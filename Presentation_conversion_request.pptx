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我们从 PyTorch 里的 MiniMax-M3 模块出发，聚焦其中一个算子——MiniMax Sparse Attention——并用 Triton 以两种方式实现它的内核：同一套块稀疏 flash-attention，先写成可移植的 GPU 风格（裸指针、手动掩码、exp2），再迁移到 Triton-Ascend 惯用法（make_block_ptr 搭配 boundary_check、fp32 加载、tl.exp）。最后读一份完整训练步的 MindStudio 剖析。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为昇腾做的融合重写。npu_fusion_attention 用单个内核跑完 MiniMax Sparse Attention，S 常驻片上。MoE 坍缩为融合的路由算子，加上对所有激活专家的单次 npu_grouped_matmul。约十六个内核变成八个。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同一个 MiniMax-M3 模块，但呈现为真正跑在昇腾上的融合数据流。上一张 DAG 里整条注意力路径——QKV、RoPE、块选择、收集、QK 转置、softmax 与 A×V——坍缩成单个 npu_fusion_attention 内核，把分数矩阵留在片上。前馈一侧，路由与 top-k 变为 npu_moe_gating，token 置换是 npu_moe_init_routing，每个激活专家作为一次与 SwiGLU 融合的 npu_grouped_matmul 运行，再由 npu_moe_finalize_routing 重新组合。两个绿色节点是融合的超大内核；可与上一页细粒度的未融合图对比。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我们从模块中取出一个算子——MiniMax Sparse Attention——并用朴素 Triton、以写 GPU 的方式实现它的主分支。它已经是一个真正的块稀疏 flash-attention 内核：遍历 Top-k 选中的 KV 块，维护运行中的最大值与分母，因此 softmax 是单趟在线过程。它之所以是 GPU 风格，在于惯用法而非算法——每个张量都用裸指针算术寻址（base + offs[:, None] * stride + ...），每次加载都带手动掩码，softmax 用 exp2 配合 log2(e) 缩放。可移植且正确，但在昇腾上，这些带掩码的逐元素加载会编译为昂贵的 Copy-In。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同一个算子，依照迁移指南迁移到 Triton-Ascend 惯用法。数学完全一致，也通过了同一份 CPU torch 参考——仍是带单趟在线 softmax 的 Top-k 块稀疏 flash-attention。变化的是访存方式：每次访问都经由带 boundary_check 的 tl.make_block_ptr，K^T 由转置块指针（order=(0, 1)）得到而非索引转置，加载显式转成 float32 进入 fp32 累加器，softmax 用自然的 tl.exp。块指针让编译器发出合并、对齐、分块的 DMA——正是下一页剖析所奖励的。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昇腾重写真正的收益是重叠，而不仅是周期更少。每条泳道是一个 AI Core 引擎——MTE2 拷入、Cube、Vector softmax、MTE3 拷出——共用同一条周期轴，右侧是各引擎利用率。GPU 风格内核里各阶段严格串行：拷入一个 KV 块、在其上计算、把结果拷出，再开始下一个块，于是每个引擎大部分时间空闲，单块约需 54 周期。Triton-Ascend 内核用 make_block_ptr DMA 将 Top-k 循环流水化——下一个 KV 块在当前块的 QK^T 与 softmax 仍在运行时就流入——于是四个引擎同时忙碌，同样的单块在约 22 周期内完成。琥珀色虚线标出串行内核的收尾位置。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同样的前后对比，现在把完整的数值结果表与逐引擎周期图并列（core0，msprof op simulator）。MTE2（GM→UB 加载）下降 12.5 倍，从 162,861 降到 13,032 周期；MTE3（UB→GM 存储）下降 6.2 倍，因为带 boundary_check 的 make_block_ptr 发出合并的分块 DMA，而非带掩码的逐元素指针加载。SCALAR、VECTOR、CUBE 周期保持在约 3% 以内，因为数学相同。净结果：Vector 核总周期下降 2.8 倍（587,494 → 208,720），Vector 核耗时下降 1.87 倍（64.85 → 34.72 µs）。两个内核都通过 CPU torch 参考；表格给出精确的编译内核名与每一项计数以备存档。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从单个模块放大到完整训练步，MindStudio Operator Details 视图按平均耗时对 AI Core 算子排名。三个融合内核主导饼图：grouped-GEMM 的 MoE 专家、SwiGLU FFN 融合，以及 FlashAttention 前向与反向——正是前几页融合过的那些内核。路由、RMSNorm 与逐元素算子紧随其后。这就是调优投入能获得回报的地方。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394916"/>
            <a:ext cx="1739265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5" kern="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技术札记 · 华为昇腾 910B1 · CANN · TRITON-ASCEND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238250" y="1902916"/>
            <a:ext cx="1550670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900" b="1" spc="-112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在昇腾上剖析与优化算子内核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3051572"/>
            <a:ext cx="12165330" cy="1322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325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 PyTorch 中的 MiniMax-M3 模块，一路深入到某个算子的 Triton 内核——MiniMax Sparse Attention，先以可移植 Triton 写就、再迁移到 Triton-Ascend——以及评判它的那份性能剖析。</a:t>
            </a:r>
            <a:endParaRPr lang="en-US" sz="2325" dirty="0"/>
          </a:p>
        </p:txBody>
      </p:sp>
      <p:sp>
        <p:nvSpPr>
          <p:cNvPr id="5" name="Text 3"/>
          <p:cNvSpPr/>
          <p:nvPr/>
        </p:nvSpPr>
        <p:spPr>
          <a:xfrm>
            <a:off x="1238250" y="4878884"/>
            <a:ext cx="1504950" cy="3076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0" kern="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摘要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2990850" y="4831259"/>
            <a:ext cx="12714732" cy="312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我们从 PyTorch 中的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MiniMax-M3 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模块出发，取出其中一个算子——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MiniMax Sparse Attention (MSA) 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——并用 Triton 以两种方式实现它的内核。两者都是在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Top-k 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选中的 KV 块上、以单趟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online-softmax 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完成的同一套块稀疏 flash-attention，也都通过了同一份参考实现——差别只在编码惯用法。可移植版是朴素的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风格 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Triton：裸指针算术、每次加载都手动加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mask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、以及配合 log2(e) 缩放的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exp2 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。Triton-Ascend 版是迁移后的重写：每次张量访问都经由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tl.make_block_ptr 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搭配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boundary_check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，K^T 通过转置块指针得到，显式的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fp32 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加载与累加器，以及自然对数的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tl.exp 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。最后我们读一份 MindStudio 剖析——算子排名与多卡时间线——看清一个完整训练步究竟把时间花在了哪里。本札记中的每一个周期计数，都由运行在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华为昇腾 910B1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（CA-model）上的 </a:t>
            </a:r>
            <a:pPr algn="just" indent="0" marL="0">
              <a:lnSpc>
                <a:spcPct val="162000"/>
              </a:lnSpc>
              <a:buNone/>
            </a:pPr>
            <a:r>
              <a:rPr lang="en-US" sz="1875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msprof op simulator </a:t>
            </a:r>
            <a:pPr algn="just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产生，而非真机实测。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238250" y="8374559"/>
            <a:ext cx="14097000" cy="9525"/>
          </a:xfrm>
          <a:prstGeom prst="rect">
            <a:avLst/>
          </a:prstGeom>
          <a:solidFill>
            <a:srgbClr val="D9D4C7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8682534"/>
            <a:ext cx="6096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引擎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2152650" y="8690471"/>
            <a:ext cx="142875" cy="142875"/>
          </a:xfrm>
          <a:prstGeom prst="rect">
            <a:avLst/>
          </a:prstGeom>
          <a:solidFill>
            <a:srgbClr val="2F6F9F"/>
          </a:solidFill>
          <a:ln w="635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0300" y="8657134"/>
            <a:ext cx="98107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MTE2 拷入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3686175" y="8690471"/>
            <a:ext cx="142875" cy="142875"/>
          </a:xfrm>
          <a:prstGeom prst="rect">
            <a:avLst/>
          </a:prstGeom>
          <a:solidFill>
            <a:srgbClr val="B23A2E"/>
          </a:solidFill>
          <a:ln w="635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3825" y="8657134"/>
            <a:ext cx="119826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计算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5436890" y="8690471"/>
            <a:ext cx="142875" cy="142875"/>
          </a:xfrm>
          <a:prstGeom prst="rect">
            <a:avLst/>
          </a:prstGeom>
          <a:solidFill>
            <a:srgbClr val="B0892B"/>
          </a:solidFill>
          <a:ln w="635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4540" y="8657134"/>
            <a:ext cx="98107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MTE3 拷出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6970415" y="8690471"/>
            <a:ext cx="142875" cy="142875"/>
          </a:xfrm>
          <a:prstGeom prst="rect">
            <a:avLst/>
          </a:prstGeom>
          <a:solidFill>
            <a:srgbClr val="6A4F9C"/>
          </a:solidFill>
          <a:ln w="635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18065" y="8657134"/>
            <a:ext cx="11620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 矩阵乘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1810512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5" kern="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 PYTORCH 中的 MINIMAX-M3 —— 为昇腾而融合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1098550"/>
            <a:ext cx="1810512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37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融合注意力与专家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14400" y="2203450"/>
            <a:ext cx="9993412" cy="6108700"/>
          </a:xfrm>
          <a:prstGeom prst="roundRect">
            <a:avLst>
              <a:gd name="adj" fmla="val 93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0750" y="2209800"/>
            <a:ext cx="9980712" cy="476250"/>
          </a:xfrm>
          <a:prstGeom prst="rect">
            <a:avLst/>
          </a:prstGeom>
          <a:solidFill>
            <a:srgbClr val="F1EEE6"/>
          </a:solidFill>
          <a:ln/>
        </p:spPr>
      </p:sp>
      <p:sp>
        <p:nvSpPr>
          <p:cNvPr id="6" name="Shape 4"/>
          <p:cNvSpPr/>
          <p:nvPr/>
        </p:nvSpPr>
        <p:spPr>
          <a:xfrm>
            <a:off x="920750" y="2679700"/>
            <a:ext cx="9980712" cy="9525"/>
          </a:xfrm>
          <a:prstGeom prst="rect">
            <a:avLst/>
          </a:prstGeom>
          <a:solidFill>
            <a:srgbClr val="DDD8CC"/>
          </a:solidFill>
          <a:ln/>
        </p:spPr>
      </p:sp>
      <p:sp>
        <p:nvSpPr>
          <p:cNvPr id="7" name="Text 5"/>
          <p:cNvSpPr/>
          <p:nvPr/>
        </p:nvSpPr>
        <p:spPr>
          <a:xfrm>
            <a:off x="1149350" y="2324100"/>
            <a:ext cx="36337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代码清单 1 </a:t>
            </a:r>
            <a:pPr algn="l" indent="0" marL="0">
              <a:buNone/>
            </a:pPr>
            <a:r>
              <a:rPr lang="en-US" sz="1275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MiniMax-M3 模块 —— 融合版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8826897" y="2324100"/>
            <a:ext cx="203056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· torch_npu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206500" y="2895600"/>
            <a:ext cx="969148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torch, torch_npu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06500" y="3152775"/>
            <a:ext cx="969148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nn, Tensor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06500" y="3409950"/>
            <a:ext cx="9691488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MiniMaxBlock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(nn.Module):         </a:t>
            </a:r>
            <a:pPr algn="l" indent="0" marL="0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M3 · fused · Ascend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06500" y="3686175"/>
            <a:ext cx="969148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x: Tensor):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20750" y="3943350"/>
            <a:ext cx="9980712" cy="257175"/>
          </a:xfrm>
          <a:prstGeom prst="rect">
            <a:avLst/>
          </a:prstGeom>
          <a:solidFill>
            <a:srgbClr val="3A7D44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206500" y="3943350"/>
            <a:ext cx="970863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h, _ = torch_npu.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npu_rms_norm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self.g1)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06500" y="4200525"/>
            <a:ext cx="969148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q, k, v = self.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qkv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(h).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(self.szs,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0750" y="4457700"/>
            <a:ext cx="9980712" cy="276225"/>
          </a:xfrm>
          <a:prstGeom prst="rect">
            <a:avLst/>
          </a:prstGeom>
          <a:solidFill>
            <a:srgbClr val="3A7D44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06500" y="4457700"/>
            <a:ext cx="9708633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MiniMax Sparse Attention — block-select, S on-chip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20750" y="4733925"/>
            <a:ext cx="9980712" cy="257175"/>
          </a:xfrm>
          <a:prstGeom prst="rect">
            <a:avLst/>
          </a:prstGeom>
          <a:solidFill>
            <a:srgbClr val="3A7D44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06500" y="4733925"/>
            <a:ext cx="970863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 = torch_npu.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npu_fusion_attention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20750" y="4991100"/>
            <a:ext cx="9980712" cy="257175"/>
          </a:xfrm>
          <a:prstGeom prst="rect">
            <a:avLst/>
          </a:prstGeom>
          <a:solidFill>
            <a:srgbClr val="3A7D44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06500" y="4991100"/>
            <a:ext cx="970863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q, k, v, self.heads,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"BSND"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scale=self.scale,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20750" y="5248275"/>
            <a:ext cx="9980712" cy="257175"/>
          </a:xfrm>
          <a:prstGeom prst="rect">
            <a:avLst/>
          </a:prstGeom>
          <a:solidFill>
            <a:srgbClr val="3A7D44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06500" y="5248275"/>
            <a:ext cx="970863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atten_mask=self.blk, sparse_mode=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06500" y="5505450"/>
            <a:ext cx="969148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+ self.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o_proj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06500" y="5762625"/>
            <a:ext cx="969148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h, _ = torch_npu.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npu_rms_norm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self.g2)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20750" y="6019800"/>
            <a:ext cx="9980712" cy="276225"/>
          </a:xfrm>
          <a:prstGeom prst="rect">
            <a:avLst/>
          </a:prstGeom>
          <a:solidFill>
            <a:srgbClr val="3A7D44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06500" y="6019800"/>
            <a:ext cx="9708633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MoE — fused router, then ONE grouped GEMM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20750" y="6296025"/>
            <a:ext cx="9980712" cy="257175"/>
          </a:xfrm>
          <a:prstGeom prst="rect">
            <a:avLst/>
          </a:prstGeom>
          <a:solidFill>
            <a:srgbClr val="3A7D44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206500" y="6296025"/>
            <a:ext cx="970863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w, eid = torch_npu.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npu_moe_gating_top_k_softmax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(h),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20750" y="6553200"/>
            <a:ext cx="9980712" cy="257175"/>
          </a:xfrm>
          <a:prstGeom prst="rect">
            <a:avLst/>
          </a:prstGeom>
          <a:solidFill>
            <a:srgbClr val="3A7D44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06500" y="6553200"/>
            <a:ext cx="970863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xr, tok = torch_npu.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npu_moe_init_routing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(h, eid)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20750" y="6810375"/>
            <a:ext cx="9980712" cy="257175"/>
          </a:xfrm>
          <a:prstGeom prst="rect">
            <a:avLst/>
          </a:prstGeom>
          <a:solidFill>
            <a:srgbClr val="3A7D44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06500" y="6810375"/>
            <a:ext cx="970863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yr = torch_npu.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npu_swiglu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(torch_npu.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npu_grouped_matmul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(xr, self.W, tok))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20750" y="7067550"/>
            <a:ext cx="9980712" cy="257175"/>
          </a:xfrm>
          <a:prstGeom prst="rect">
            <a:avLst/>
          </a:prstGeom>
          <a:solidFill>
            <a:srgbClr val="3A7D44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06500" y="7067550"/>
            <a:ext cx="970863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torch_npu.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npu_moe_finalize_routing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highlight>
                  <a:srgbClr val="EBF2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(yr @ self.Wd, tok, w)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206500" y="7324725"/>
            <a:ext cx="969148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+ y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206500" y="7851775"/>
            <a:ext cx="693440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1212612" y="2203450"/>
            <a:ext cx="6160988" cy="1463675"/>
          </a:xfrm>
          <a:prstGeom prst="roundRect">
            <a:avLst>
              <a:gd name="adj" fmla="val 390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85662" y="2457450"/>
            <a:ext cx="61763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5" kern="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 · FLASHATTENTION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11485662" y="2771775"/>
            <a:ext cx="5783335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npu_fusion_attention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在单个内核里跑完 MSA 选中的块；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3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常驻 SRAM。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212612" y="3838575"/>
            <a:ext cx="6160988" cy="1463675"/>
          </a:xfrm>
          <a:prstGeom prst="roundRect">
            <a:avLst>
              <a:gd name="adj" fmla="val 390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85662" y="4092575"/>
            <a:ext cx="61763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5" kern="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GROUPED GEMM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11485662" y="4406900"/>
            <a:ext cx="5783335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npu_grouped_matmul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把每个激活的专家作为单个内核运行；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npu_moe_*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融合路由与合并。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1212612" y="5473700"/>
            <a:ext cx="6160988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85662" y="5727700"/>
            <a:ext cx="617637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5" kern="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结果</a:t>
            </a:r>
            <a:endParaRPr lang="en-US" sz="1275" dirty="0"/>
          </a:p>
        </p:txBody>
      </p:sp>
      <p:sp>
        <p:nvSpPr>
          <p:cNvPr id="46" name="Text 44"/>
          <p:cNvSpPr/>
          <p:nvPr/>
        </p:nvSpPr>
        <p:spPr>
          <a:xfrm>
            <a:off x="11485662" y="6067425"/>
            <a:ext cx="61763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~16 → 8 个内核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；无 S 溢出，无逐专家启动。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914400" y="9639300"/>
            <a:ext cx="16459200" cy="9525"/>
          </a:xfrm>
          <a:prstGeom prst="rect">
            <a:avLst/>
          </a:prstGeom>
          <a:solidFill>
            <a:srgbClr val="DDD8CC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9759951"/>
            <a:ext cx="157162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昇腾算子内核性能剖析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16773525" y="9759951"/>
            <a:ext cx="6762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08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5142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 MINIMAX-M3 —— 融合数据流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838200"/>
            <a:ext cx="751422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以融合内核呈现的 MiniMax-M3 模块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14582775" y="62547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FBEAE7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82800" y="600075"/>
            <a:ext cx="5905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15449550" y="62547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EFEAF7"/>
          </a:solidFill>
          <a:ln w="12700">
            <a:solidFill>
              <a:srgbClr val="6A4F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49575" y="600075"/>
            <a:ext cx="419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6144875" y="62547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FDF3E0"/>
          </a:solidFill>
          <a:ln w="12700">
            <a:solidFill>
              <a:srgbClr val="B08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344900" y="600075"/>
            <a:ext cx="33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DMA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16754475" y="62547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EDF6EE"/>
          </a:solidFill>
          <a:ln w="19050">
            <a:solidFill>
              <a:srgbClr val="3A7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54500" y="609600"/>
            <a:ext cx="6477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融合内核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762000" y="1581150"/>
            <a:ext cx="16764000" cy="7131050"/>
          </a:xfrm>
          <a:prstGeom prst="roundRect">
            <a:avLst>
              <a:gd name="adj" fmla="val 1069"/>
            </a:avLst>
          </a:prstGeom>
          <a:solidFill>
            <a:srgbClr val="FCFBF8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8850" y="1720850"/>
            <a:ext cx="16370301" cy="68516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2000" y="8826500"/>
            <a:ext cx="1726692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B2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1. </a:t>
            </a:r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融合后的 MiniMax-M3 模块。整条注意力路径（QKV → RoPE → 选择 → 收集 → QKᵀ → softmax → A·V）坍缩为单个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npu_fusion_attention </a:t>
            </a:r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内核（S 驻留片上）；MoE 的路由、分发、逐专家 GEMM 与合并则变为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npu_moe_gating → init_routing → grouped_matmul(+SwiGLU) → finalize_routing</a:t>
            </a:r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。绿色 = 一个融合的超大内核。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62000" y="9715500"/>
            <a:ext cx="16764000" cy="9525"/>
          </a:xfrm>
          <a:prstGeom prst="rect">
            <a:avLst/>
          </a:prstGeom>
          <a:solidFill>
            <a:srgbClr val="DDD8CC"/>
          </a:solidFill>
          <a:ln/>
        </p:spPr>
      </p:sp>
      <p:sp>
        <p:nvSpPr>
          <p:cNvPr id="16" name="Text 13"/>
          <p:cNvSpPr/>
          <p:nvPr/>
        </p:nvSpPr>
        <p:spPr>
          <a:xfrm>
            <a:off x="762000" y="9817101"/>
            <a:ext cx="157162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昇腾算子内核性能剖析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16925925" y="9817101"/>
            <a:ext cx="6762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08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95300"/>
            <a:ext cx="1810512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5" kern="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 MSA 内核 —— TRITON · GPU 风格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831850"/>
            <a:ext cx="1810512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MiniMax Sparse Attention —— GPU 风格内核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1644650"/>
            <a:ext cx="16459200" cy="7524750"/>
          </a:xfrm>
          <a:prstGeom prst="roundRect">
            <a:avLst>
              <a:gd name="adj" fmla="val 75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0750" y="1651000"/>
            <a:ext cx="16446501" cy="438150"/>
          </a:xfrm>
          <a:prstGeom prst="rect">
            <a:avLst/>
          </a:prstGeom>
          <a:solidFill>
            <a:srgbClr val="F1EEE6"/>
          </a:solidFill>
          <a:ln/>
        </p:spPr>
      </p:sp>
      <p:sp>
        <p:nvSpPr>
          <p:cNvPr id="6" name="Shape 4"/>
          <p:cNvSpPr/>
          <p:nvPr/>
        </p:nvSpPr>
        <p:spPr>
          <a:xfrm>
            <a:off x="920750" y="2082800"/>
            <a:ext cx="16446501" cy="9525"/>
          </a:xfrm>
          <a:prstGeom prst="rect">
            <a:avLst/>
          </a:prstGeom>
          <a:solidFill>
            <a:srgbClr val="DDD8CC"/>
          </a:solidFill>
          <a:ln/>
        </p:spPr>
      </p:sp>
      <p:sp>
        <p:nvSpPr>
          <p:cNvPr id="7" name="Text 5"/>
          <p:cNvSpPr/>
          <p:nvPr/>
        </p:nvSpPr>
        <p:spPr>
          <a:xfrm>
            <a:off x="1149350" y="1755775"/>
            <a:ext cx="432524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代码清单 2 </a:t>
            </a:r>
            <a:pPr algn="l" indent="0" marL="0">
              <a:buNone/>
            </a:pPr>
            <a:r>
              <a:rPr lang="en-US" sz="12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msa_fwd_kernel —— GPU 风格 Triton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578310" y="1755775"/>
            <a:ext cx="281637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msa_attn.py · raw ptr · exp2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" y="224155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@triton.jit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1187450" y="240823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msa_fwd_kernel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(Q, K, V, TIDX, Out, sm_scale,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1187450" y="257492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stride_qh, stride_qn, stride_qd, stride_kh, stride_kn, stride_kd,</a:t>
            </a:r>
            <a:endParaRPr lang="en-US" sz="938" dirty="0"/>
          </a:p>
        </p:txBody>
      </p:sp>
      <p:sp>
        <p:nvSpPr>
          <p:cNvPr id="12" name="Text 10"/>
          <p:cNvSpPr/>
          <p:nvPr/>
        </p:nvSpPr>
        <p:spPr>
          <a:xfrm>
            <a:off x="1187450" y="274161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stride_vh, stride_vn, stride_vd, stride_th, stride_tm, stride_tk,</a:t>
            </a:r>
            <a:endParaRPr lang="en-US" sz="938" dirty="0"/>
          </a:p>
        </p:txBody>
      </p:sp>
      <p:sp>
        <p:nvSpPr>
          <p:cNvPr id="13" name="Text 11"/>
          <p:cNvSpPr/>
          <p:nvPr/>
        </p:nvSpPr>
        <p:spPr>
          <a:xfrm>
            <a:off x="1187450" y="290830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stride_oh, stride_on, stride_od, N,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1187450" y="307498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HEAD_DIM: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tl.constexpr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BLOCK_M: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tl.constexpr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BLOCK_N: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tl.constexpr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1187450" y="324167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TOPK: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tl.constexpr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GQA: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tl.constexpr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38" dirty="0"/>
          </a:p>
        </p:txBody>
      </p:sp>
      <p:sp>
        <p:nvSpPr>
          <p:cNvPr id="16" name="Text 14"/>
          <p:cNvSpPr/>
          <p:nvPr/>
        </p:nvSpPr>
        <p:spPr>
          <a:xfrm>
            <a:off x="1187450" y="3408363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pid_h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tl.program_id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  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head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1187450" y="3587750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pid_m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tl.program_id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  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block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1187450" y="3767138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hkv   = pid_h // GQA                     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GQA group -&gt; kv head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1187450" y="394652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offs_m = pid_m * BLOCK_M +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tl.arange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BLOCK_M)</a:t>
            </a:r>
            <a:endParaRPr lang="en-US" sz="938" dirty="0"/>
          </a:p>
        </p:txBody>
      </p:sp>
      <p:sp>
        <p:nvSpPr>
          <p:cNvPr id="20" name="Text 18"/>
          <p:cNvSpPr/>
          <p:nvPr/>
        </p:nvSpPr>
        <p:spPr>
          <a:xfrm>
            <a:off x="1187450" y="411321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offs_d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tl.arange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HEAD_DIM)</a:t>
            </a:r>
            <a:endParaRPr lang="en-US" sz="938" dirty="0"/>
          </a:p>
        </p:txBody>
      </p:sp>
      <p:sp>
        <p:nvSpPr>
          <p:cNvPr id="21" name="Shape 19"/>
          <p:cNvSpPr/>
          <p:nvPr/>
        </p:nvSpPr>
        <p:spPr>
          <a:xfrm>
            <a:off x="920750" y="4279900"/>
            <a:ext cx="16446501" cy="166688"/>
          </a:xfrm>
          <a:prstGeom prst="rect">
            <a:avLst/>
          </a:prstGeom>
          <a:solidFill>
            <a:srgbClr val="B23A2E">
              <a:alpha val="9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20750" y="4279900"/>
            <a:ext cx="25400" cy="166688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4275" y="4279900"/>
            <a:ext cx="16676371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q_ptrs = Q + pid_h * stride_qh + offs_m[:,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* stride_qn + offs_d[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:] * stride_qd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1187450" y="4446588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tl.load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(q_ptrs, mask=offs_m[:,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&lt; N, other=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raw ptr + manual mask</a:t>
            </a:r>
            <a:endParaRPr lang="en-US" sz="938" dirty="0"/>
          </a:p>
        </p:txBody>
      </p:sp>
      <p:sp>
        <p:nvSpPr>
          <p:cNvPr id="25" name="Text 23"/>
          <p:cNvSpPr/>
          <p:nvPr/>
        </p:nvSpPr>
        <p:spPr>
          <a:xfrm>
            <a:off x="1187450" y="462597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m_i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tl.full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([BLOCK_M], -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"inf"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tl.float32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26" name="Text 24"/>
          <p:cNvSpPr/>
          <p:nvPr/>
        </p:nvSpPr>
        <p:spPr>
          <a:xfrm>
            <a:off x="1187450" y="479266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l_i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tl.zeros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([BLOCK_M],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tl.float32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27" name="Text 25"/>
          <p:cNvSpPr/>
          <p:nvPr/>
        </p:nvSpPr>
        <p:spPr>
          <a:xfrm>
            <a:off x="1187450" y="495935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tl.zeros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([BLOCK_M, HEAD_DIM],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tl.float32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28" name="Shape 26"/>
          <p:cNvSpPr/>
          <p:nvPr/>
        </p:nvSpPr>
        <p:spPr>
          <a:xfrm>
            <a:off x="920750" y="5126038"/>
            <a:ext cx="16446501" cy="179388"/>
          </a:xfrm>
          <a:prstGeom prst="rect">
            <a:avLst/>
          </a:prstGeom>
          <a:solidFill>
            <a:srgbClr val="B23A2E">
              <a:alpha val="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20750" y="5126038"/>
            <a:ext cx="25400" cy="179388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184275" y="5126038"/>
            <a:ext cx="16676371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qk_scale = sm_scale *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1.44269504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log2(e), so we can use exp2</a:t>
            </a:r>
            <a:endParaRPr lang="en-US" sz="938" dirty="0"/>
          </a:p>
        </p:txBody>
      </p:sp>
      <p:sp>
        <p:nvSpPr>
          <p:cNvPr id="31" name="Text 29"/>
          <p:cNvSpPr/>
          <p:nvPr/>
        </p:nvSpPr>
        <p:spPr>
          <a:xfrm>
            <a:off x="1187450" y="530542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t_base = TIDX + hkv * stride_th + pid_m * stride_tm</a:t>
            </a:r>
            <a:endParaRPr lang="en-US" sz="938" dirty="0"/>
          </a:p>
        </p:txBody>
      </p:sp>
      <p:sp>
        <p:nvSpPr>
          <p:cNvPr id="32" name="Text 30"/>
          <p:cNvSpPr/>
          <p:nvPr/>
        </p:nvSpPr>
        <p:spPr>
          <a:xfrm>
            <a:off x="1187450" y="5472113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(TOPK):                    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the Top-k selected KV blocks</a:t>
            </a:r>
            <a:endParaRPr lang="en-US" sz="938" dirty="0"/>
          </a:p>
        </p:txBody>
      </p:sp>
      <p:sp>
        <p:nvSpPr>
          <p:cNvPr id="33" name="Text 31"/>
          <p:cNvSpPr/>
          <p:nvPr/>
        </p:nvSpPr>
        <p:spPr>
          <a:xfrm>
            <a:off x="1187450" y="5651500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nb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tl.load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(t_base + t * stride_tk) 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selected block id (-1 = padding)</a:t>
            </a:r>
            <a:endParaRPr lang="en-US" sz="938" dirty="0"/>
          </a:p>
        </p:txBody>
      </p:sp>
      <p:sp>
        <p:nvSpPr>
          <p:cNvPr id="34" name="Text 32"/>
          <p:cNvSpPr/>
          <p:nvPr/>
        </p:nvSpPr>
        <p:spPr>
          <a:xfrm>
            <a:off x="1187450" y="583088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nb_safe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tl.maximum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(nb,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1187450" y="599757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offs_n = nb_safe * BLOCK_N +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tl.arange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BLOCK_N)</a:t>
            </a:r>
            <a:endParaRPr lang="en-US" sz="938" dirty="0"/>
          </a:p>
        </p:txBody>
      </p:sp>
      <p:sp>
        <p:nvSpPr>
          <p:cNvPr id="36" name="Shape 34"/>
          <p:cNvSpPr/>
          <p:nvPr/>
        </p:nvSpPr>
        <p:spPr>
          <a:xfrm>
            <a:off x="920750" y="6164263"/>
            <a:ext cx="16446501" cy="166688"/>
          </a:xfrm>
          <a:prstGeom prst="rect">
            <a:avLst/>
          </a:prstGeom>
          <a:solidFill>
            <a:srgbClr val="B23A2E">
              <a:alpha val="9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20750" y="6164263"/>
            <a:ext cx="25400" cy="166688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38" name="Text 36"/>
          <p:cNvSpPr/>
          <p:nvPr/>
        </p:nvSpPr>
        <p:spPr>
          <a:xfrm>
            <a:off x="1184275" y="6164263"/>
            <a:ext cx="16676371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k_ptrs = K + hkv * stride_kh + offs_d[:,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* stride_kd + offs_n[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:] * stride_kn</a:t>
            </a:r>
            <a:endParaRPr lang="en-US" sz="938" dirty="0"/>
          </a:p>
        </p:txBody>
      </p:sp>
      <p:sp>
        <p:nvSpPr>
          <p:cNvPr id="39" name="Text 37"/>
          <p:cNvSpPr/>
          <p:nvPr/>
        </p:nvSpPr>
        <p:spPr>
          <a:xfrm>
            <a:off x="1187450" y="6330950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tl.load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(k_ptrs, mask=offs_n[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:] &lt; N, other=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[D, BLOCK_N]</a:t>
            </a:r>
            <a:endParaRPr lang="en-US" sz="938" dirty="0"/>
          </a:p>
        </p:txBody>
      </p:sp>
      <p:sp>
        <p:nvSpPr>
          <p:cNvPr id="40" name="Text 38"/>
          <p:cNvSpPr/>
          <p:nvPr/>
        </p:nvSpPr>
        <p:spPr>
          <a:xfrm>
            <a:off x="1187450" y="651033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qk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tl.dot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(q, k) * qk_scale</a:t>
            </a:r>
            <a:endParaRPr lang="en-US" sz="938" dirty="0"/>
          </a:p>
        </p:txBody>
      </p:sp>
      <p:sp>
        <p:nvSpPr>
          <p:cNvPr id="41" name="Text 39"/>
          <p:cNvSpPr/>
          <p:nvPr/>
        </p:nvSpPr>
        <p:spPr>
          <a:xfrm>
            <a:off x="1187450" y="667702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  = nb &gt;=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38" dirty="0"/>
          </a:p>
        </p:txBody>
      </p:sp>
      <p:sp>
        <p:nvSpPr>
          <p:cNvPr id="42" name="Text 40"/>
          <p:cNvSpPr/>
          <p:nvPr/>
        </p:nvSpPr>
        <p:spPr>
          <a:xfrm>
            <a:off x="1187450" y="684371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causal = offs_m[:,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&gt;= offs_n[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:]</a:t>
            </a:r>
            <a:endParaRPr lang="en-US" sz="938" dirty="0"/>
          </a:p>
        </p:txBody>
      </p:sp>
      <p:sp>
        <p:nvSpPr>
          <p:cNvPr id="43" name="Text 41"/>
          <p:cNvSpPr/>
          <p:nvPr/>
        </p:nvSpPr>
        <p:spPr>
          <a:xfrm>
            <a:off x="1187450" y="701040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qk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tl.where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(causal &amp; valid, qk, -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"inf"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38" dirty="0"/>
          </a:p>
        </p:txBody>
      </p:sp>
      <p:sp>
        <p:nvSpPr>
          <p:cNvPr id="44" name="Text 42"/>
          <p:cNvSpPr/>
          <p:nvPr/>
        </p:nvSpPr>
        <p:spPr>
          <a:xfrm>
            <a:off x="1187450" y="7177088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m_ij 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tl.maximum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(m_i,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tl.max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(qk, axis=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online softmax, single pass</a:t>
            </a:r>
            <a:endParaRPr lang="en-US" sz="938" dirty="0"/>
          </a:p>
        </p:txBody>
      </p:sp>
      <p:sp>
        <p:nvSpPr>
          <p:cNvPr id="45" name="Shape 43"/>
          <p:cNvSpPr/>
          <p:nvPr/>
        </p:nvSpPr>
        <p:spPr>
          <a:xfrm>
            <a:off x="920750" y="7356475"/>
            <a:ext cx="16446501" cy="179388"/>
          </a:xfrm>
          <a:prstGeom prst="rect">
            <a:avLst/>
          </a:prstGeom>
          <a:solidFill>
            <a:srgbClr val="B23A2E">
              <a:alpha val="9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0750" y="7356475"/>
            <a:ext cx="25400" cy="179388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47" name="Text 45"/>
          <p:cNvSpPr/>
          <p:nvPr/>
        </p:nvSpPr>
        <p:spPr>
          <a:xfrm>
            <a:off x="1184275" y="7356475"/>
            <a:ext cx="16676371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   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tl.exp2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(qk - m_ij[:,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F8ED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exp2, not exp</a:t>
            </a:r>
            <a:endParaRPr lang="en-US" sz="938" dirty="0"/>
          </a:p>
        </p:txBody>
      </p:sp>
      <p:sp>
        <p:nvSpPr>
          <p:cNvPr id="48" name="Text 46"/>
          <p:cNvSpPr/>
          <p:nvPr/>
        </p:nvSpPr>
        <p:spPr>
          <a:xfrm>
            <a:off x="1187450" y="753586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alpha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tl.exp2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(m_i - m_ij)</a:t>
            </a:r>
            <a:endParaRPr lang="en-US" sz="938" dirty="0"/>
          </a:p>
        </p:txBody>
      </p:sp>
      <p:sp>
        <p:nvSpPr>
          <p:cNvPr id="49" name="Text 47"/>
          <p:cNvSpPr/>
          <p:nvPr/>
        </p:nvSpPr>
        <p:spPr>
          <a:xfrm>
            <a:off x="1187450" y="770255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l_i = l_i * alpha +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tl.sum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(p, axis=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50" name="Text 48"/>
          <p:cNvSpPr/>
          <p:nvPr/>
        </p:nvSpPr>
        <p:spPr>
          <a:xfrm>
            <a:off x="1187450" y="786923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 = acc * alpha[:,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38" dirty="0"/>
          </a:p>
        </p:txBody>
      </p:sp>
      <p:sp>
        <p:nvSpPr>
          <p:cNvPr id="51" name="Text 49"/>
          <p:cNvSpPr/>
          <p:nvPr/>
        </p:nvSpPr>
        <p:spPr>
          <a:xfrm>
            <a:off x="1187450" y="803592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v_ptrs = V + hkv * stride_vh + offs_n[:,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* stride_vn + offs_d[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:] * stride_vd</a:t>
            </a:r>
            <a:endParaRPr lang="en-US" sz="938" dirty="0"/>
          </a:p>
        </p:txBody>
      </p:sp>
      <p:sp>
        <p:nvSpPr>
          <p:cNvPr id="52" name="Text 50"/>
          <p:cNvSpPr/>
          <p:nvPr/>
        </p:nvSpPr>
        <p:spPr>
          <a:xfrm>
            <a:off x="1187450" y="8202613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tl.load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(v_ptrs, mask=offs_n[:,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&lt; N, other=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[BLOCK_N, D]</a:t>
            </a:r>
            <a:endParaRPr lang="en-US" sz="938" dirty="0"/>
          </a:p>
        </p:txBody>
      </p:sp>
      <p:sp>
        <p:nvSpPr>
          <p:cNvPr id="53" name="Text 51"/>
          <p:cNvSpPr/>
          <p:nvPr/>
        </p:nvSpPr>
        <p:spPr>
          <a:xfrm>
            <a:off x="1187450" y="838200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 +=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tl.dot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(p.to(v.dtype), v)</a:t>
            </a:r>
            <a:endParaRPr lang="en-US" sz="938" dirty="0"/>
          </a:p>
        </p:txBody>
      </p:sp>
      <p:sp>
        <p:nvSpPr>
          <p:cNvPr id="54" name="Text 52"/>
          <p:cNvSpPr/>
          <p:nvPr/>
        </p:nvSpPr>
        <p:spPr>
          <a:xfrm>
            <a:off x="1187450" y="854868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m_i = m_ij</a:t>
            </a:r>
            <a:endParaRPr lang="en-US" sz="938" dirty="0"/>
          </a:p>
        </p:txBody>
      </p:sp>
      <p:sp>
        <p:nvSpPr>
          <p:cNvPr id="55" name="Text 53"/>
          <p:cNvSpPr/>
          <p:nvPr/>
        </p:nvSpPr>
        <p:spPr>
          <a:xfrm>
            <a:off x="1187450" y="871537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= acc / l_i[:,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38" dirty="0"/>
          </a:p>
        </p:txBody>
      </p:sp>
      <p:sp>
        <p:nvSpPr>
          <p:cNvPr id="56" name="Text 54"/>
          <p:cNvSpPr/>
          <p:nvPr/>
        </p:nvSpPr>
        <p:spPr>
          <a:xfrm>
            <a:off x="1187450" y="888206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o_ptrs = Out + pid_h * stride_oh + offs_m[:,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* stride_on + offs_d[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:] * stride_od</a:t>
            </a:r>
            <a:endParaRPr lang="en-US" sz="938" dirty="0"/>
          </a:p>
        </p:txBody>
      </p:sp>
      <p:sp>
        <p:nvSpPr>
          <p:cNvPr id="57" name="Text 55"/>
          <p:cNvSpPr/>
          <p:nvPr/>
        </p:nvSpPr>
        <p:spPr>
          <a:xfrm>
            <a:off x="1187450" y="904875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tl.store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(o_ptrs, acc.to(Out.dtype.element_ty), mask=offs_m[:,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&lt; N)</a:t>
            </a:r>
            <a:endParaRPr lang="en-US" sz="938" dirty="0"/>
          </a:p>
        </p:txBody>
      </p:sp>
      <p:sp>
        <p:nvSpPr>
          <p:cNvPr id="58" name="Text 56"/>
          <p:cNvSpPr/>
          <p:nvPr/>
        </p:nvSpPr>
        <p:spPr>
          <a:xfrm>
            <a:off x="1187450" y="9388475"/>
            <a:ext cx="361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38" dirty="0"/>
          </a:p>
        </p:txBody>
      </p:sp>
      <p:sp>
        <p:nvSpPr>
          <p:cNvPr id="59" name="Text 57"/>
          <p:cNvSpPr/>
          <p:nvPr/>
        </p:nvSpPr>
        <p:spPr>
          <a:xfrm>
            <a:off x="914400" y="9328150"/>
            <a:ext cx="9144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惯用法</a:t>
            </a:r>
            <a:endParaRPr lang="en-US" sz="1125" dirty="0"/>
          </a:p>
        </p:txBody>
      </p:sp>
      <p:sp>
        <p:nvSpPr>
          <p:cNvPr id="60" name="Shape 58"/>
          <p:cNvSpPr/>
          <p:nvPr/>
        </p:nvSpPr>
        <p:spPr>
          <a:xfrm>
            <a:off x="1886049" y="9302750"/>
            <a:ext cx="869950" cy="260350"/>
          </a:xfrm>
          <a:prstGeom prst="roundRect">
            <a:avLst>
              <a:gd name="adj" fmla="val 14634"/>
            </a:avLst>
          </a:prstGeom>
          <a:solidFill>
            <a:srgbClr val="B23A2E">
              <a:alpha val="9000"/>
            </a:srgbClr>
          </a:solidFill>
          <a:ln w="6350">
            <a:solidFill>
              <a:srgbClr val="B23A2E">
                <a:alpha val="28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87649" y="9337675"/>
            <a:ext cx="74295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裸指针算术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889349" y="9302750"/>
            <a:ext cx="1483420" cy="260350"/>
          </a:xfrm>
          <a:prstGeom prst="roundRect">
            <a:avLst>
              <a:gd name="adj" fmla="val 14634"/>
            </a:avLst>
          </a:prstGeom>
          <a:solidFill>
            <a:srgbClr val="B23A2E">
              <a:alpha val="9000"/>
            </a:srgbClr>
          </a:solidFill>
          <a:ln w="6350">
            <a:solidFill>
              <a:srgbClr val="B23A2E">
                <a:alpha val="28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90949" y="9337675"/>
            <a:ext cx="135642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每次加载都带 mask=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506119" y="9302750"/>
            <a:ext cx="1670050" cy="260350"/>
          </a:xfrm>
          <a:prstGeom prst="roundRect">
            <a:avLst>
              <a:gd name="adj" fmla="val 14634"/>
            </a:avLst>
          </a:prstGeom>
          <a:solidFill>
            <a:srgbClr val="B23A2E">
              <a:alpha val="9000"/>
            </a:srgbClr>
          </a:solidFill>
          <a:ln w="6350">
            <a:solidFill>
              <a:srgbClr val="B23A2E">
                <a:alpha val="28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07719" y="9337675"/>
            <a:ext cx="154305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exp2 · log2(e) 缩放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309519" y="9309100"/>
            <a:ext cx="59335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带掩码的逐元素 Copy-In 在模拟器上编译为 </a:t>
            </a:r>
            <a:pPr algn="l" indent="0" marL="0">
              <a:buNone/>
            </a:pPr>
            <a:r>
              <a:rPr lang="en-US" sz="1350" b="1" dirty="0">
                <a:solidFill>
                  <a:srgbClr val="B2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162,861 </a:t>
            </a:r>
            <a:pPr algn="l" indent="0" marL="0">
              <a:buNone/>
            </a:pPr>
            <a:r>
              <a:rPr lang="en-US" sz="1350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 MTE2 周期。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914400" y="9734550"/>
            <a:ext cx="16459200" cy="9525"/>
          </a:xfrm>
          <a:prstGeom prst="rect">
            <a:avLst/>
          </a:prstGeom>
          <a:solidFill>
            <a:srgbClr val="DDD8CC"/>
          </a:solidFill>
          <a:ln/>
        </p:spPr>
      </p:sp>
      <p:sp>
        <p:nvSpPr>
          <p:cNvPr id="68" name="Text 66"/>
          <p:cNvSpPr/>
          <p:nvPr/>
        </p:nvSpPr>
        <p:spPr>
          <a:xfrm>
            <a:off x="914400" y="9836151"/>
            <a:ext cx="157162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昇腾算子内核性能剖析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16773525" y="9836151"/>
            <a:ext cx="6762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08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95300"/>
            <a:ext cx="1810512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5" kern="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 MSA 内核 —— TRITON-ASCEND · 惯用写法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831850"/>
            <a:ext cx="1810512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同一内核，昇腾惯用写法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1644650"/>
            <a:ext cx="16459200" cy="7537450"/>
          </a:xfrm>
          <a:prstGeom prst="roundRect">
            <a:avLst>
              <a:gd name="adj" fmla="val 75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0750" y="1651000"/>
            <a:ext cx="16446501" cy="438150"/>
          </a:xfrm>
          <a:prstGeom prst="rect">
            <a:avLst/>
          </a:prstGeom>
          <a:solidFill>
            <a:srgbClr val="F1EEE6"/>
          </a:solidFill>
          <a:ln/>
        </p:spPr>
      </p:sp>
      <p:sp>
        <p:nvSpPr>
          <p:cNvPr id="6" name="Shape 4"/>
          <p:cNvSpPr/>
          <p:nvPr/>
        </p:nvSpPr>
        <p:spPr>
          <a:xfrm>
            <a:off x="920750" y="2082800"/>
            <a:ext cx="16446501" cy="9525"/>
          </a:xfrm>
          <a:prstGeom prst="rect">
            <a:avLst/>
          </a:prstGeom>
          <a:solidFill>
            <a:srgbClr val="DDD8CC"/>
          </a:solidFill>
          <a:ln/>
        </p:spPr>
      </p:sp>
      <p:sp>
        <p:nvSpPr>
          <p:cNvPr id="7" name="Text 5"/>
          <p:cNvSpPr/>
          <p:nvPr/>
        </p:nvSpPr>
        <p:spPr>
          <a:xfrm>
            <a:off x="1149350" y="1755775"/>
            <a:ext cx="489517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代码清单 3 </a:t>
            </a:r>
            <a:pPr algn="l" indent="0" marL="0">
              <a:buNone/>
            </a:pPr>
            <a:r>
              <a:rPr lang="en-US" sz="12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msa_fwd_kernel_ascend —— Triton-Ascend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578310" y="1755775"/>
            <a:ext cx="281637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msa_attn.py · make_block_ptr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450" y="224155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@triton.jit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1187450" y="240823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msa_fwd_kernel_ascend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(Q, K, V, TIDX, Out, sm_scale,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1187450" y="257492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stride_qh, stride_qn, stride_qd, stride_kh, stride_kn, stride_kd,</a:t>
            </a:r>
            <a:endParaRPr lang="en-US" sz="938" dirty="0"/>
          </a:p>
        </p:txBody>
      </p:sp>
      <p:sp>
        <p:nvSpPr>
          <p:cNvPr id="12" name="Text 10"/>
          <p:cNvSpPr/>
          <p:nvPr/>
        </p:nvSpPr>
        <p:spPr>
          <a:xfrm>
            <a:off x="1187450" y="274161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stride_vh, stride_vn, stride_vd, stride_th, stride_tm, stride_tk,</a:t>
            </a:r>
            <a:endParaRPr lang="en-US" sz="938" dirty="0"/>
          </a:p>
        </p:txBody>
      </p:sp>
      <p:sp>
        <p:nvSpPr>
          <p:cNvPr id="13" name="Text 11"/>
          <p:cNvSpPr/>
          <p:nvPr/>
        </p:nvSpPr>
        <p:spPr>
          <a:xfrm>
            <a:off x="1187450" y="290830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stride_oh, stride_on, stride_od, N,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1187450" y="307498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HEAD_DIM: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tl.constexpr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BLOCK_M: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tl.constexpr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BLOCK_N: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tl.constexpr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1187450" y="324167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TOPK: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tl.constexpr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GQA: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tl.constexpr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38" dirty="0"/>
          </a:p>
        </p:txBody>
      </p:sp>
      <p:sp>
        <p:nvSpPr>
          <p:cNvPr id="16" name="Text 14"/>
          <p:cNvSpPr/>
          <p:nvPr/>
        </p:nvSpPr>
        <p:spPr>
          <a:xfrm>
            <a:off x="1187450" y="340836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pid_h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tl.program_id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1187450" y="357505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pid_m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tl.program_id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1187450" y="374173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hkv = pid_h // GQA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1187450" y="390842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offs_m = pid_m * BLOCK_M +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tl.arange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BLOCK_M)</a:t>
            </a:r>
            <a:endParaRPr lang="en-US" sz="938" dirty="0"/>
          </a:p>
        </p:txBody>
      </p:sp>
      <p:sp>
        <p:nvSpPr>
          <p:cNvPr id="20" name="Shape 18"/>
          <p:cNvSpPr/>
          <p:nvPr/>
        </p:nvSpPr>
        <p:spPr>
          <a:xfrm>
            <a:off x="920750" y="4075113"/>
            <a:ext cx="16446501" cy="166688"/>
          </a:xfrm>
          <a:prstGeom prst="rect">
            <a:avLst/>
          </a:prstGeom>
          <a:solidFill>
            <a:srgbClr val="3A7D44">
              <a:alpha val="11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20750" y="4075113"/>
            <a:ext cx="25400" cy="166688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22" name="Text 20"/>
          <p:cNvSpPr/>
          <p:nvPr/>
        </p:nvSpPr>
        <p:spPr>
          <a:xfrm>
            <a:off x="1184275" y="4075113"/>
            <a:ext cx="16676371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q_bp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tl.make_block_ptr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 + pid_h * stride_qh, shape=(N, HEAD_DIM), strides=(stride_qn, stride_qd), offsets=(pid_m * BLOCK_M,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block_shape=(BLOCK_M, HEAD_DIM), order=(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38" dirty="0"/>
          </a:p>
        </p:txBody>
      </p:sp>
      <p:sp>
        <p:nvSpPr>
          <p:cNvPr id="23" name="Text 21"/>
          <p:cNvSpPr/>
          <p:nvPr/>
        </p:nvSpPr>
        <p:spPr>
          <a:xfrm>
            <a:off x="1187450" y="4241800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tl.load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(q_bp, boundary_check=(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)).to(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tl.float32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block ptr + boundary_check, fp32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1187450" y="442118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m_i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tl.full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([BLOCK_M], -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"inf"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tl.float32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25" name="Text 23"/>
          <p:cNvSpPr/>
          <p:nvPr/>
        </p:nvSpPr>
        <p:spPr>
          <a:xfrm>
            <a:off x="1187450" y="458787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l_i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tl.zeros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([BLOCK_M],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tl.float32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26" name="Text 24"/>
          <p:cNvSpPr/>
          <p:nvPr/>
        </p:nvSpPr>
        <p:spPr>
          <a:xfrm>
            <a:off x="1187450" y="475456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tl.zeros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([BLOCK_M, HEAD_DIM],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tl.float32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27" name="Text 25"/>
          <p:cNvSpPr/>
          <p:nvPr/>
        </p:nvSpPr>
        <p:spPr>
          <a:xfrm>
            <a:off x="1187450" y="492125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t_base = TIDX + hkv * stride_th + pid_m * stride_tm</a:t>
            </a:r>
            <a:endParaRPr lang="en-US" sz="938" dirty="0"/>
          </a:p>
        </p:txBody>
      </p:sp>
      <p:sp>
        <p:nvSpPr>
          <p:cNvPr id="28" name="Text 26"/>
          <p:cNvSpPr/>
          <p:nvPr/>
        </p:nvSpPr>
        <p:spPr>
          <a:xfrm>
            <a:off x="1187450" y="508793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(TOPK):</a:t>
            </a:r>
            <a:endParaRPr lang="en-US" sz="938" dirty="0"/>
          </a:p>
        </p:txBody>
      </p:sp>
      <p:sp>
        <p:nvSpPr>
          <p:cNvPr id="29" name="Text 27"/>
          <p:cNvSpPr/>
          <p:nvPr/>
        </p:nvSpPr>
        <p:spPr>
          <a:xfrm>
            <a:off x="1187450" y="525462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nb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tl.load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(t_base + t * stride_tk)</a:t>
            </a:r>
            <a:endParaRPr lang="en-US" sz="938" dirty="0"/>
          </a:p>
        </p:txBody>
      </p:sp>
      <p:sp>
        <p:nvSpPr>
          <p:cNvPr id="30" name="Text 28"/>
          <p:cNvSpPr/>
          <p:nvPr/>
        </p:nvSpPr>
        <p:spPr>
          <a:xfrm>
            <a:off x="1187450" y="542131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nb_safe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tl.maximum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(nb,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31" name="Text 29"/>
          <p:cNvSpPr/>
          <p:nvPr/>
        </p:nvSpPr>
        <p:spPr>
          <a:xfrm>
            <a:off x="1187450" y="558800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offs_n = nb_safe * BLOCK_N +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tl.arange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BLOCK_N)</a:t>
            </a:r>
            <a:endParaRPr lang="en-US" sz="938" dirty="0"/>
          </a:p>
        </p:txBody>
      </p:sp>
      <p:sp>
        <p:nvSpPr>
          <p:cNvPr id="32" name="Text 30"/>
          <p:cNvSpPr/>
          <p:nvPr/>
        </p:nvSpPr>
        <p:spPr>
          <a:xfrm>
            <a:off x="1187450" y="5754688"/>
            <a:ext cx="16390494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K^T tile [HEAD_DIM, BLOCK_N] via a transposed block pointer, order=(0, 1)</a:t>
            </a:r>
            <a:endParaRPr lang="en-US" sz="938" dirty="0"/>
          </a:p>
        </p:txBody>
      </p:sp>
      <p:sp>
        <p:nvSpPr>
          <p:cNvPr id="33" name="Shape 31"/>
          <p:cNvSpPr/>
          <p:nvPr/>
        </p:nvSpPr>
        <p:spPr>
          <a:xfrm>
            <a:off x="920750" y="5934075"/>
            <a:ext cx="16446501" cy="166688"/>
          </a:xfrm>
          <a:prstGeom prst="rect">
            <a:avLst/>
          </a:prstGeom>
          <a:solidFill>
            <a:srgbClr val="3A7D44">
              <a:alpha val="11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20750" y="5934075"/>
            <a:ext cx="25400" cy="166688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35" name="Text 33"/>
          <p:cNvSpPr/>
          <p:nvPr/>
        </p:nvSpPr>
        <p:spPr>
          <a:xfrm>
            <a:off x="1184275" y="5934075"/>
            <a:ext cx="16676371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k_bp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tl.make_block_ptr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 + hkv * stride_kh, shape=(HEAD_DIM, N), strides=(stride_kd, stride_kn), offsets=(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nb_safe * BLOCK_N), block_shape=(HEAD_DIM, BLOCK_N), order=(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38" dirty="0"/>
          </a:p>
        </p:txBody>
      </p:sp>
      <p:sp>
        <p:nvSpPr>
          <p:cNvPr id="36" name="Text 34"/>
          <p:cNvSpPr/>
          <p:nvPr/>
        </p:nvSpPr>
        <p:spPr>
          <a:xfrm>
            <a:off x="1187450" y="610076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tl.load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(k_bp, boundary_check=(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)).to(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tl.float32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37" name="Text 35"/>
          <p:cNvSpPr/>
          <p:nvPr/>
        </p:nvSpPr>
        <p:spPr>
          <a:xfrm>
            <a:off x="1187450" y="626745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qk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tl.dot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(q, k) * sm_scale</a:t>
            </a:r>
            <a:endParaRPr lang="en-US" sz="938" dirty="0"/>
          </a:p>
        </p:txBody>
      </p:sp>
      <p:sp>
        <p:nvSpPr>
          <p:cNvPr id="38" name="Text 36"/>
          <p:cNvSpPr/>
          <p:nvPr/>
        </p:nvSpPr>
        <p:spPr>
          <a:xfrm>
            <a:off x="1187450" y="643413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 = nb &gt;=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38" dirty="0"/>
          </a:p>
        </p:txBody>
      </p:sp>
      <p:sp>
        <p:nvSpPr>
          <p:cNvPr id="39" name="Text 37"/>
          <p:cNvSpPr/>
          <p:nvPr/>
        </p:nvSpPr>
        <p:spPr>
          <a:xfrm>
            <a:off x="1187450" y="660082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causal = offs_m[:,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&gt;= offs_n[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:]</a:t>
            </a:r>
            <a:endParaRPr lang="en-US" sz="938" dirty="0"/>
          </a:p>
        </p:txBody>
      </p:sp>
      <p:sp>
        <p:nvSpPr>
          <p:cNvPr id="40" name="Text 38"/>
          <p:cNvSpPr/>
          <p:nvPr/>
        </p:nvSpPr>
        <p:spPr>
          <a:xfrm>
            <a:off x="1187450" y="676751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qk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tl.where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(causal &amp; valid, qk, -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"inf"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38" dirty="0"/>
          </a:p>
        </p:txBody>
      </p:sp>
      <p:sp>
        <p:nvSpPr>
          <p:cNvPr id="41" name="Text 39"/>
          <p:cNvSpPr/>
          <p:nvPr/>
        </p:nvSpPr>
        <p:spPr>
          <a:xfrm>
            <a:off x="1187450" y="693420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m_ij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tl.maximum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(m_i,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tl.max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(qk, axis=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38" dirty="0"/>
          </a:p>
        </p:txBody>
      </p:sp>
      <p:sp>
        <p:nvSpPr>
          <p:cNvPr id="42" name="Shape 40"/>
          <p:cNvSpPr/>
          <p:nvPr/>
        </p:nvSpPr>
        <p:spPr>
          <a:xfrm>
            <a:off x="920750" y="7100888"/>
            <a:ext cx="16446501" cy="179388"/>
          </a:xfrm>
          <a:prstGeom prst="rect">
            <a:avLst/>
          </a:prstGeom>
          <a:solidFill>
            <a:srgbClr val="3A7D44">
              <a:alpha val="11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20750" y="7100888"/>
            <a:ext cx="25400" cy="179388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44" name="Text 42"/>
          <p:cNvSpPr/>
          <p:nvPr/>
        </p:nvSpPr>
        <p:spPr>
          <a:xfrm>
            <a:off x="1184275" y="7100888"/>
            <a:ext cx="16676371" cy="2174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tl.exp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(qk - m_ij[:,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       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natural tl.exp</a:t>
            </a:r>
            <a:endParaRPr lang="en-US" sz="938" dirty="0"/>
          </a:p>
        </p:txBody>
      </p:sp>
      <p:sp>
        <p:nvSpPr>
          <p:cNvPr id="45" name="Text 43"/>
          <p:cNvSpPr/>
          <p:nvPr/>
        </p:nvSpPr>
        <p:spPr>
          <a:xfrm>
            <a:off x="1187450" y="728027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alpha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tl.exp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(m_i - m_ij)</a:t>
            </a:r>
            <a:endParaRPr lang="en-US" sz="938" dirty="0"/>
          </a:p>
        </p:txBody>
      </p:sp>
      <p:sp>
        <p:nvSpPr>
          <p:cNvPr id="46" name="Text 44"/>
          <p:cNvSpPr/>
          <p:nvPr/>
        </p:nvSpPr>
        <p:spPr>
          <a:xfrm>
            <a:off x="1187450" y="744696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l_i = l_i * alpha +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tl.sum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(p, axis=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47" name="Text 45"/>
          <p:cNvSpPr/>
          <p:nvPr/>
        </p:nvSpPr>
        <p:spPr>
          <a:xfrm>
            <a:off x="1187450" y="761365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 = acc * alpha[:,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38" dirty="0"/>
          </a:p>
        </p:txBody>
      </p:sp>
      <p:sp>
        <p:nvSpPr>
          <p:cNvPr id="48" name="Shape 46"/>
          <p:cNvSpPr/>
          <p:nvPr/>
        </p:nvSpPr>
        <p:spPr>
          <a:xfrm>
            <a:off x="920750" y="7780338"/>
            <a:ext cx="16446501" cy="166688"/>
          </a:xfrm>
          <a:prstGeom prst="rect">
            <a:avLst/>
          </a:prstGeom>
          <a:solidFill>
            <a:srgbClr val="3A7D44">
              <a:alpha val="11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20750" y="7780338"/>
            <a:ext cx="25400" cy="166688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50" name="Text 48"/>
          <p:cNvSpPr/>
          <p:nvPr/>
        </p:nvSpPr>
        <p:spPr>
          <a:xfrm>
            <a:off x="1184275" y="7780338"/>
            <a:ext cx="16676371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v_bp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tl.make_block_ptr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 + hkv * stride_vh, shape=(N, HEAD_DIM), strides=(stride_vn, stride_vd), offsets=(nb_safe * BLOCK_N,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block_shape=(BLOCK_N, HEAD_DIM), order=(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highlight>
                  <a:srgbClr val="E9F1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38" dirty="0"/>
          </a:p>
        </p:txBody>
      </p:sp>
      <p:sp>
        <p:nvSpPr>
          <p:cNvPr id="51" name="Text 49"/>
          <p:cNvSpPr/>
          <p:nvPr/>
        </p:nvSpPr>
        <p:spPr>
          <a:xfrm>
            <a:off x="1187450" y="794702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tl.load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(v_bp, boundary_check=(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)).to(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tl.float32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8" dirty="0"/>
          </a:p>
        </p:txBody>
      </p:sp>
      <p:sp>
        <p:nvSpPr>
          <p:cNvPr id="52" name="Text 50"/>
          <p:cNvSpPr/>
          <p:nvPr/>
        </p:nvSpPr>
        <p:spPr>
          <a:xfrm>
            <a:off x="1187450" y="811371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 +=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tl.dot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(p.to(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tl.float32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v)</a:t>
            </a:r>
            <a:endParaRPr lang="en-US" sz="938" dirty="0"/>
          </a:p>
        </p:txBody>
      </p:sp>
      <p:sp>
        <p:nvSpPr>
          <p:cNvPr id="53" name="Text 51"/>
          <p:cNvSpPr/>
          <p:nvPr/>
        </p:nvSpPr>
        <p:spPr>
          <a:xfrm>
            <a:off x="1187450" y="8280400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m_i = m_ij</a:t>
            </a:r>
            <a:endParaRPr lang="en-US" sz="938" dirty="0"/>
          </a:p>
        </p:txBody>
      </p:sp>
      <p:sp>
        <p:nvSpPr>
          <p:cNvPr id="54" name="Text 52"/>
          <p:cNvSpPr/>
          <p:nvPr/>
        </p:nvSpPr>
        <p:spPr>
          <a:xfrm>
            <a:off x="1187450" y="8447088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= acc / l_i[:,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38" dirty="0"/>
          </a:p>
        </p:txBody>
      </p:sp>
      <p:sp>
        <p:nvSpPr>
          <p:cNvPr id="55" name="Text 53"/>
          <p:cNvSpPr/>
          <p:nvPr/>
        </p:nvSpPr>
        <p:spPr>
          <a:xfrm>
            <a:off x="1187450" y="8613775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o_bp =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tl.make_block_ptr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(Out + pid_h * stride_oh, shape=(N, HEAD_DIM), strides=(stride_on, stride_od), offsets=(pid_m * BLOCK_M,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block_shape=(BLOCK_M, HEAD_DIM), order=(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38" dirty="0"/>
          </a:p>
        </p:txBody>
      </p:sp>
      <p:sp>
        <p:nvSpPr>
          <p:cNvPr id="56" name="Text 54"/>
          <p:cNvSpPr/>
          <p:nvPr/>
        </p:nvSpPr>
        <p:spPr>
          <a:xfrm>
            <a:off x="1187450" y="8780463"/>
            <a:ext cx="16390494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tl.store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(o_bp, acc.to(Out.dtype.element_ty), boundary_check=(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38" dirty="0"/>
          </a:p>
        </p:txBody>
      </p:sp>
      <p:sp>
        <p:nvSpPr>
          <p:cNvPr id="57" name="Text 55"/>
          <p:cNvSpPr/>
          <p:nvPr/>
        </p:nvSpPr>
        <p:spPr>
          <a:xfrm>
            <a:off x="1187450" y="9120188"/>
            <a:ext cx="361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2B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38" dirty="0"/>
          </a:p>
        </p:txBody>
      </p:sp>
      <p:sp>
        <p:nvSpPr>
          <p:cNvPr id="58" name="Text 56"/>
          <p:cNvSpPr/>
          <p:nvPr/>
        </p:nvSpPr>
        <p:spPr>
          <a:xfrm>
            <a:off x="914400" y="9334500"/>
            <a:ext cx="838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昇腾惯用法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1809750" y="9315450"/>
            <a:ext cx="2683570" cy="247650"/>
          </a:xfrm>
          <a:prstGeom prst="roundRect">
            <a:avLst>
              <a:gd name="adj" fmla="val 15385"/>
            </a:avLst>
          </a:prstGeom>
          <a:solidFill>
            <a:srgbClr val="3A7D44">
              <a:alpha val="10000"/>
            </a:srgbClr>
          </a:solidFill>
          <a:ln w="6350">
            <a:solidFill>
              <a:srgbClr val="3A7D44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11350" y="9350375"/>
            <a:ext cx="2560877" cy="215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make_block_ptr + boundary_check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626670" y="9315450"/>
            <a:ext cx="2283520" cy="247650"/>
          </a:xfrm>
          <a:prstGeom prst="roundRect">
            <a:avLst>
              <a:gd name="adj" fmla="val 15385"/>
            </a:avLst>
          </a:prstGeom>
          <a:solidFill>
            <a:srgbClr val="3A7D44">
              <a:alpha val="10000"/>
            </a:srgbClr>
          </a:solidFill>
          <a:ln w="6350">
            <a:solidFill>
              <a:srgbClr val="3A7D44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28270" y="9350375"/>
            <a:ext cx="2156520" cy="215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transposed-K · order=(0,1)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043539" y="9315450"/>
            <a:ext cx="2043509" cy="247650"/>
          </a:xfrm>
          <a:prstGeom prst="roundRect">
            <a:avLst>
              <a:gd name="adj" fmla="val 15385"/>
            </a:avLst>
          </a:prstGeom>
          <a:solidFill>
            <a:srgbClr val="3A7D44">
              <a:alpha val="10000"/>
            </a:srgbClr>
          </a:solidFill>
          <a:ln w="6350">
            <a:solidFill>
              <a:srgbClr val="3A7D44">
                <a:alpha val="3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45139" y="9350375"/>
            <a:ext cx="1916509" cy="215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fp32 loads/acc · tl.exp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220399" y="9315450"/>
            <a:ext cx="57777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合并的块指针 DMA 编译为 </a:t>
            </a:r>
            <a:pPr algn="l" indent="0" marL="0">
              <a:buNone/>
            </a:pPr>
            <a:r>
              <a:rPr lang="en-US" sz="1350" b="1" dirty="0">
                <a:solidFill>
                  <a:srgbClr val="3A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13,032 </a:t>
            </a:r>
            <a:pPr algn="l" indent="0" marL="0">
              <a:buNone/>
            </a:pPr>
            <a:r>
              <a:rPr lang="en-US" sz="1350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 MTE2 周期 —— 减少 </a:t>
            </a:r>
            <a:pPr algn="l" indent="0" marL="0">
              <a:buNone/>
            </a:pPr>
            <a:r>
              <a:rPr lang="en-US" sz="1350" b="1" dirty="0">
                <a:solidFill>
                  <a:srgbClr val="3A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12.5×</a:t>
            </a:r>
            <a:pPr algn="l" indent="0" marL="0">
              <a:buNone/>
            </a:pPr>
            <a:r>
              <a:rPr lang="en-US" sz="1350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。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914400" y="9734550"/>
            <a:ext cx="16459200" cy="9525"/>
          </a:xfrm>
          <a:prstGeom prst="rect">
            <a:avLst/>
          </a:prstGeom>
          <a:solidFill>
            <a:srgbClr val="DDD8CC"/>
          </a:solidFill>
          <a:ln/>
        </p:spPr>
      </p:sp>
      <p:sp>
        <p:nvSpPr>
          <p:cNvPr id="67" name="Text 65"/>
          <p:cNvSpPr/>
          <p:nvPr/>
        </p:nvSpPr>
        <p:spPr>
          <a:xfrm>
            <a:off x="914400" y="9836151"/>
            <a:ext cx="157162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昇腾算子内核性能剖析</a:t>
            </a:r>
            <a:endParaRPr lang="en-US" sz="1125" dirty="0"/>
          </a:p>
        </p:txBody>
      </p:sp>
      <p:sp>
        <p:nvSpPr>
          <p:cNvPr id="68" name="Text 66"/>
          <p:cNvSpPr/>
          <p:nvPr/>
        </p:nvSpPr>
        <p:spPr>
          <a:xfrm>
            <a:off x="16773525" y="9836151"/>
            <a:ext cx="6762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08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1810512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5" kern="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 MSA 内核 —— 流水线重叠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831850"/>
            <a:ext cx="181051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525" b="1" spc="-37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让拷入、计算与拷出相互重叠</a:t>
            </a:r>
            <a:endParaRPr lang="en-US" sz="3525" dirty="0"/>
          </a:p>
        </p:txBody>
      </p:sp>
      <p:sp>
        <p:nvSpPr>
          <p:cNvPr id="4" name="Text 2"/>
          <p:cNvSpPr/>
          <p:nvPr/>
        </p:nvSpPr>
        <p:spPr>
          <a:xfrm>
            <a:off x="914400" y="1593850"/>
            <a:ext cx="1697355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相同的数学、相同的计数——胜负在于调度。每条泳道是一个 AI Core 引擎，共用同一条周期轴；右侧数字表示其繁忙程度，琥珀色虚线标出 GPU 风格内核收尾的位置。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914400" y="3291185"/>
            <a:ext cx="16459200" cy="2101850"/>
          </a:xfrm>
          <a:prstGeom prst="roundRect">
            <a:avLst>
              <a:gd name="adj" fmla="val 4532"/>
            </a:avLst>
          </a:prstGeom>
          <a:solidFill>
            <a:srgbClr val="FCFBF8"/>
          </a:solidFill>
          <a:ln w="6350">
            <a:solidFill>
              <a:srgbClr val="DDD8CC"/>
            </a:solidFill>
            <a:prstDash val="solid"/>
          </a:ln>
          <a:effectLst>
            <a:outerShdw sx="100000" sy="100000" kx="0" ky="0" algn="bl" rotWithShape="0" blurRad="190500" dist="57150" dir="5400000">
              <a:srgbClr val="141E32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7450" y="3440410"/>
            <a:ext cx="149009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风格 · 串行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60191" y="3465810"/>
            <a:ext cx="24643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各阶段彼此等待 · 单块 ≈ 54 周期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87450" y="4056360"/>
            <a:ext cx="15913101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9" name="Text 7"/>
          <p:cNvSpPr/>
          <p:nvPr/>
        </p:nvSpPr>
        <p:spPr>
          <a:xfrm>
            <a:off x="1225550" y="3735685"/>
            <a:ext cx="18021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MTE2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25550" y="3907135"/>
            <a:ext cx="18021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90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拷入 KV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63850" y="3719810"/>
            <a:ext cx="9525" cy="336550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870200" y="37198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4115" y="37198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4" name="Shape 12"/>
          <p:cNvSpPr/>
          <p:nvPr/>
        </p:nvSpPr>
        <p:spPr>
          <a:xfrm>
            <a:off x="6778129" y="37198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5" name="Shape 13"/>
          <p:cNvSpPr/>
          <p:nvPr/>
        </p:nvSpPr>
        <p:spPr>
          <a:xfrm>
            <a:off x="8732143" y="37198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86058" y="37198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7" name="Shape 15"/>
          <p:cNvSpPr/>
          <p:nvPr/>
        </p:nvSpPr>
        <p:spPr>
          <a:xfrm>
            <a:off x="12640073" y="37198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8" name="Shape 16"/>
          <p:cNvSpPr/>
          <p:nvPr/>
        </p:nvSpPr>
        <p:spPr>
          <a:xfrm>
            <a:off x="14594086" y="37198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48100" y="37198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20" name="Shape 18"/>
          <p:cNvSpPr/>
          <p:nvPr/>
        </p:nvSpPr>
        <p:spPr>
          <a:xfrm>
            <a:off x="2870200" y="37864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2F6F9F">
              <a:alpha val="9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35661" y="37864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2F6F9F">
              <a:alpha val="9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801122" y="37864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2F6F9F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66583" y="37864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2F6F9F">
              <a:alpha val="9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6492855" y="3805535"/>
            <a:ext cx="5505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22%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187450" y="4399260"/>
            <a:ext cx="15913101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26" name="Text 24"/>
          <p:cNvSpPr/>
          <p:nvPr/>
        </p:nvSpPr>
        <p:spPr>
          <a:xfrm>
            <a:off x="1225550" y="4078585"/>
            <a:ext cx="18021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225550" y="4250035"/>
            <a:ext cx="18021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90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QKᵀ · P·V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63850" y="4062710"/>
            <a:ext cx="9525" cy="336550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29" name="Shape 27"/>
          <p:cNvSpPr/>
          <p:nvPr/>
        </p:nvSpPr>
        <p:spPr>
          <a:xfrm>
            <a:off x="2870200" y="40627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30" name="Shape 28"/>
          <p:cNvSpPr/>
          <p:nvPr/>
        </p:nvSpPr>
        <p:spPr>
          <a:xfrm>
            <a:off x="4824115" y="40627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31" name="Shape 29"/>
          <p:cNvSpPr/>
          <p:nvPr/>
        </p:nvSpPr>
        <p:spPr>
          <a:xfrm>
            <a:off x="6778129" y="40627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32" name="Shape 30"/>
          <p:cNvSpPr/>
          <p:nvPr/>
        </p:nvSpPr>
        <p:spPr>
          <a:xfrm>
            <a:off x="8732143" y="40627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86058" y="40627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40073" y="40627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35" name="Shape 33"/>
          <p:cNvSpPr/>
          <p:nvPr/>
        </p:nvSpPr>
        <p:spPr>
          <a:xfrm>
            <a:off x="14594086" y="40627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36" name="Shape 34"/>
          <p:cNvSpPr/>
          <p:nvPr/>
        </p:nvSpPr>
        <p:spPr>
          <a:xfrm>
            <a:off x="16548100" y="40627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37" name="Shape 35"/>
          <p:cNvSpPr/>
          <p:nvPr/>
        </p:nvSpPr>
        <p:spPr>
          <a:xfrm>
            <a:off x="3602931" y="41293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68392" y="41293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33852" y="41293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999413" y="41293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663065" y="41293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2395796" y="41293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128625" y="41293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3861356" y="41293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6492855" y="4148435"/>
            <a:ext cx="5505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44%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1187450" y="4742160"/>
            <a:ext cx="15913101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47" name="Text 45"/>
          <p:cNvSpPr/>
          <p:nvPr/>
        </p:nvSpPr>
        <p:spPr>
          <a:xfrm>
            <a:off x="1225550" y="4421485"/>
            <a:ext cx="18021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225550" y="4592935"/>
            <a:ext cx="18021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90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softmax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863850" y="4405610"/>
            <a:ext cx="9525" cy="336550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0" name="Shape 48"/>
          <p:cNvSpPr/>
          <p:nvPr/>
        </p:nvSpPr>
        <p:spPr>
          <a:xfrm>
            <a:off x="2870200" y="44056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1" name="Shape 49"/>
          <p:cNvSpPr/>
          <p:nvPr/>
        </p:nvSpPr>
        <p:spPr>
          <a:xfrm>
            <a:off x="4824115" y="44056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2" name="Shape 50"/>
          <p:cNvSpPr/>
          <p:nvPr/>
        </p:nvSpPr>
        <p:spPr>
          <a:xfrm>
            <a:off x="6778129" y="44056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3" name="Shape 51"/>
          <p:cNvSpPr/>
          <p:nvPr/>
        </p:nvSpPr>
        <p:spPr>
          <a:xfrm>
            <a:off x="8732143" y="44056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4" name="Shape 52"/>
          <p:cNvSpPr/>
          <p:nvPr/>
        </p:nvSpPr>
        <p:spPr>
          <a:xfrm>
            <a:off x="10686058" y="44056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5" name="Shape 53"/>
          <p:cNvSpPr/>
          <p:nvPr/>
        </p:nvSpPr>
        <p:spPr>
          <a:xfrm>
            <a:off x="12640073" y="44056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6" name="Shape 54"/>
          <p:cNvSpPr/>
          <p:nvPr/>
        </p:nvSpPr>
        <p:spPr>
          <a:xfrm>
            <a:off x="14594086" y="44056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7" name="Shape 55"/>
          <p:cNvSpPr/>
          <p:nvPr/>
        </p:nvSpPr>
        <p:spPr>
          <a:xfrm>
            <a:off x="16548100" y="44056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8" name="Shape 56"/>
          <p:cNvSpPr/>
          <p:nvPr/>
        </p:nvSpPr>
        <p:spPr>
          <a:xfrm>
            <a:off x="8732143" y="4472285"/>
            <a:ext cx="976908" cy="203200"/>
          </a:xfrm>
          <a:prstGeom prst="roundRect">
            <a:avLst>
              <a:gd name="adj" fmla="val 9375"/>
            </a:avLst>
          </a:prstGeom>
          <a:solidFill>
            <a:srgbClr val="B23A2E">
              <a:alpha val="9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709150" y="4472285"/>
            <a:ext cx="976908" cy="203200"/>
          </a:xfrm>
          <a:prstGeom prst="roundRect">
            <a:avLst>
              <a:gd name="adj" fmla="val 9375"/>
            </a:avLst>
          </a:prstGeom>
          <a:solidFill>
            <a:srgbClr val="B23A2E">
              <a:alpha val="9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686058" y="4472285"/>
            <a:ext cx="976908" cy="203200"/>
          </a:xfrm>
          <a:prstGeom prst="roundRect">
            <a:avLst>
              <a:gd name="adj" fmla="val 9375"/>
            </a:avLst>
          </a:prstGeom>
          <a:solidFill>
            <a:srgbClr val="B23A2E">
              <a:alpha val="9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4594086" y="44722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B23A2E">
              <a:alpha val="9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6492855" y="4491335"/>
            <a:ext cx="5505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28%</a:t>
            </a:r>
            <a:endParaRPr lang="en-US" sz="1125" dirty="0"/>
          </a:p>
        </p:txBody>
      </p:sp>
      <p:sp>
        <p:nvSpPr>
          <p:cNvPr id="63" name="Shape 61"/>
          <p:cNvSpPr/>
          <p:nvPr/>
        </p:nvSpPr>
        <p:spPr>
          <a:xfrm>
            <a:off x="1187450" y="5085060"/>
            <a:ext cx="15913101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64" name="Text 62"/>
          <p:cNvSpPr/>
          <p:nvPr/>
        </p:nvSpPr>
        <p:spPr>
          <a:xfrm>
            <a:off x="1225550" y="4764385"/>
            <a:ext cx="18021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B0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MTE3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1225550" y="4935835"/>
            <a:ext cx="18021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90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拷出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863850" y="4748510"/>
            <a:ext cx="9525" cy="336550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67" name="Shape 65"/>
          <p:cNvSpPr/>
          <p:nvPr/>
        </p:nvSpPr>
        <p:spPr>
          <a:xfrm>
            <a:off x="2870200" y="47485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68" name="Shape 66"/>
          <p:cNvSpPr/>
          <p:nvPr/>
        </p:nvSpPr>
        <p:spPr>
          <a:xfrm>
            <a:off x="4824115" y="47485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69" name="Shape 67"/>
          <p:cNvSpPr/>
          <p:nvPr/>
        </p:nvSpPr>
        <p:spPr>
          <a:xfrm>
            <a:off x="6778129" y="47485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0" name="Shape 68"/>
          <p:cNvSpPr/>
          <p:nvPr/>
        </p:nvSpPr>
        <p:spPr>
          <a:xfrm>
            <a:off x="8732143" y="47485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1" name="Shape 69"/>
          <p:cNvSpPr/>
          <p:nvPr/>
        </p:nvSpPr>
        <p:spPr>
          <a:xfrm>
            <a:off x="10686058" y="47485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2" name="Shape 70"/>
          <p:cNvSpPr/>
          <p:nvPr/>
        </p:nvSpPr>
        <p:spPr>
          <a:xfrm>
            <a:off x="12640073" y="47485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3" name="Shape 71"/>
          <p:cNvSpPr/>
          <p:nvPr/>
        </p:nvSpPr>
        <p:spPr>
          <a:xfrm>
            <a:off x="14594086" y="47485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4" name="Shape 72"/>
          <p:cNvSpPr/>
          <p:nvPr/>
        </p:nvSpPr>
        <p:spPr>
          <a:xfrm>
            <a:off x="16548100" y="474851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5" name="Shape 73"/>
          <p:cNvSpPr/>
          <p:nvPr/>
        </p:nvSpPr>
        <p:spPr>
          <a:xfrm>
            <a:off x="15326817" y="481518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B0892B">
              <a:alpha val="92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6492855" y="4834235"/>
            <a:ext cx="5505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6%</a:t>
            </a:r>
            <a:endParaRPr lang="en-US" sz="1125" dirty="0"/>
          </a:p>
        </p:txBody>
      </p:sp>
      <p:sp>
        <p:nvSpPr>
          <p:cNvPr id="77" name="Text 75"/>
          <p:cNvSpPr/>
          <p:nvPr/>
        </p:nvSpPr>
        <p:spPr>
          <a:xfrm>
            <a:off x="2832398" y="5119985"/>
            <a:ext cx="13910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4787205" y="5119985"/>
            <a:ext cx="13910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6710660" y="511998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8665568" y="511998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825" dirty="0"/>
          </a:p>
        </p:txBody>
      </p:sp>
      <p:sp>
        <p:nvSpPr>
          <p:cNvPr id="81" name="Text 79"/>
          <p:cNvSpPr/>
          <p:nvPr/>
        </p:nvSpPr>
        <p:spPr>
          <a:xfrm>
            <a:off x="10620475" y="511998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12575381" y="511998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825" dirty="0"/>
          </a:p>
        </p:txBody>
      </p:sp>
      <p:sp>
        <p:nvSpPr>
          <p:cNvPr id="83" name="Text 81"/>
          <p:cNvSpPr/>
          <p:nvPr/>
        </p:nvSpPr>
        <p:spPr>
          <a:xfrm>
            <a:off x="14530289" y="511998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16485196" y="511998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16471900" y="5119985"/>
            <a:ext cx="5715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914400" y="5583535"/>
            <a:ext cx="16459200" cy="2101850"/>
          </a:xfrm>
          <a:prstGeom prst="roundRect">
            <a:avLst>
              <a:gd name="adj" fmla="val 4532"/>
            </a:avLst>
          </a:prstGeom>
          <a:solidFill>
            <a:srgbClr val="FCFBF8"/>
          </a:solidFill>
          <a:ln w="6350">
            <a:solidFill>
              <a:srgbClr val="CFE4D3"/>
            </a:solidFill>
            <a:prstDash val="solid"/>
          </a:ln>
          <a:effectLst>
            <a:outerShdw sx="100000" sy="100000" kx="0" ky="0" algn="bl" rotWithShape="0" blurRad="190500" dist="57150" dir="5400000">
              <a:srgbClr val="141E32">
                <a:alpha val="5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1187450" y="5732761"/>
            <a:ext cx="213348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TRITON-ASCEND · 重叠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14246821" y="5758160"/>
            <a:ext cx="31391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拷入 / 计算 / 拷出 同时进行 · ≈ 22 周期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1187450" y="6348710"/>
            <a:ext cx="15913101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90" name="Text 88"/>
          <p:cNvSpPr/>
          <p:nvPr/>
        </p:nvSpPr>
        <p:spPr>
          <a:xfrm>
            <a:off x="1225550" y="6028036"/>
            <a:ext cx="18021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MTE2</a:t>
            </a:r>
            <a:endParaRPr lang="en-US" sz="1125" dirty="0"/>
          </a:p>
        </p:txBody>
      </p:sp>
      <p:sp>
        <p:nvSpPr>
          <p:cNvPr id="91" name="Text 89"/>
          <p:cNvSpPr/>
          <p:nvPr/>
        </p:nvSpPr>
        <p:spPr>
          <a:xfrm>
            <a:off x="1225550" y="6199486"/>
            <a:ext cx="18021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90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拷入 KV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863850" y="6012160"/>
            <a:ext cx="9525" cy="336550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93" name="Shape 91"/>
          <p:cNvSpPr/>
          <p:nvPr/>
        </p:nvSpPr>
        <p:spPr>
          <a:xfrm>
            <a:off x="2870200" y="60121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4" name="Shape 92"/>
          <p:cNvSpPr/>
          <p:nvPr/>
        </p:nvSpPr>
        <p:spPr>
          <a:xfrm>
            <a:off x="4824115" y="60121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5" name="Shape 93"/>
          <p:cNvSpPr/>
          <p:nvPr/>
        </p:nvSpPr>
        <p:spPr>
          <a:xfrm>
            <a:off x="6778129" y="60121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6" name="Shape 94"/>
          <p:cNvSpPr/>
          <p:nvPr/>
        </p:nvSpPr>
        <p:spPr>
          <a:xfrm>
            <a:off x="8732143" y="60121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7" name="Shape 95"/>
          <p:cNvSpPr/>
          <p:nvPr/>
        </p:nvSpPr>
        <p:spPr>
          <a:xfrm>
            <a:off x="10686058" y="60121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8" name="Shape 96"/>
          <p:cNvSpPr/>
          <p:nvPr/>
        </p:nvSpPr>
        <p:spPr>
          <a:xfrm>
            <a:off x="12640073" y="60121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9" name="Shape 97"/>
          <p:cNvSpPr/>
          <p:nvPr/>
        </p:nvSpPr>
        <p:spPr>
          <a:xfrm>
            <a:off x="14594086" y="60121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00" name="Shape 98"/>
          <p:cNvSpPr/>
          <p:nvPr/>
        </p:nvSpPr>
        <p:spPr>
          <a:xfrm>
            <a:off x="16548100" y="60121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01" name="Shape 99"/>
          <p:cNvSpPr/>
          <p:nvPr/>
        </p:nvSpPr>
        <p:spPr>
          <a:xfrm>
            <a:off x="16059548" y="6012160"/>
            <a:ext cx="19050" cy="33655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102" name="Shape 100"/>
          <p:cNvSpPr/>
          <p:nvPr/>
        </p:nvSpPr>
        <p:spPr>
          <a:xfrm>
            <a:off x="2870200" y="607883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2F6F9F">
              <a:alpha val="92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3602931" y="607883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2F6F9F">
              <a:alpha val="92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4335661" y="607883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2F6F9F">
              <a:alpha val="92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5068392" y="607883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2F6F9F">
              <a:alpha val="92000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16492855" y="6097885"/>
            <a:ext cx="5505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55%</a:t>
            </a:r>
            <a:endParaRPr lang="en-US" sz="1125" dirty="0"/>
          </a:p>
        </p:txBody>
      </p:sp>
      <p:sp>
        <p:nvSpPr>
          <p:cNvPr id="107" name="Shape 105"/>
          <p:cNvSpPr/>
          <p:nvPr/>
        </p:nvSpPr>
        <p:spPr>
          <a:xfrm>
            <a:off x="1187450" y="6691610"/>
            <a:ext cx="15913101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108" name="Text 106"/>
          <p:cNvSpPr/>
          <p:nvPr/>
        </p:nvSpPr>
        <p:spPr>
          <a:xfrm>
            <a:off x="1225550" y="6370936"/>
            <a:ext cx="18021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6A4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</a:t>
            </a:r>
            <a:endParaRPr lang="en-US" sz="1125" dirty="0"/>
          </a:p>
        </p:txBody>
      </p:sp>
      <p:sp>
        <p:nvSpPr>
          <p:cNvPr id="109" name="Text 107"/>
          <p:cNvSpPr/>
          <p:nvPr/>
        </p:nvSpPr>
        <p:spPr>
          <a:xfrm>
            <a:off x="1225550" y="6542386"/>
            <a:ext cx="18021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90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QKᵀ · P·V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2863850" y="6355060"/>
            <a:ext cx="9525" cy="336550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870200" y="63550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824115" y="63550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778129" y="63550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732143" y="63550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686058" y="63550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2640073" y="63550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4594086" y="63550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6548100" y="63550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6059548" y="6355060"/>
            <a:ext cx="19050" cy="3365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/>
        </p:spPr>
      </p:sp>
      <p:sp>
        <p:nvSpPr>
          <p:cNvPr id="120" name="Shape 118"/>
          <p:cNvSpPr/>
          <p:nvPr/>
        </p:nvSpPr>
        <p:spPr>
          <a:xfrm>
            <a:off x="3602931" y="642173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4335661" y="642173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5068392" y="642173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5801122" y="642173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6533852" y="642173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6A4F9C">
              <a:alpha val="92000"/>
            </a:srgbClr>
          </a:solidFill>
          <a:ln/>
        </p:spPr>
      </p:sp>
      <p:sp>
        <p:nvSpPr>
          <p:cNvPr id="125" name="Text 123"/>
          <p:cNvSpPr/>
          <p:nvPr/>
        </p:nvSpPr>
        <p:spPr>
          <a:xfrm>
            <a:off x="16492855" y="6440785"/>
            <a:ext cx="5505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</a:t>
            </a:r>
            <a:endParaRPr lang="en-US" sz="1125" dirty="0"/>
          </a:p>
        </p:txBody>
      </p:sp>
      <p:sp>
        <p:nvSpPr>
          <p:cNvPr id="126" name="Shape 124"/>
          <p:cNvSpPr/>
          <p:nvPr/>
        </p:nvSpPr>
        <p:spPr>
          <a:xfrm>
            <a:off x="1187450" y="7034510"/>
            <a:ext cx="15913101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127" name="Text 125"/>
          <p:cNvSpPr/>
          <p:nvPr/>
        </p:nvSpPr>
        <p:spPr>
          <a:xfrm>
            <a:off x="1225550" y="6713836"/>
            <a:ext cx="18021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endParaRPr lang="en-US" sz="1125" dirty="0"/>
          </a:p>
        </p:txBody>
      </p:sp>
      <p:sp>
        <p:nvSpPr>
          <p:cNvPr id="128" name="Text 126"/>
          <p:cNvSpPr/>
          <p:nvPr/>
        </p:nvSpPr>
        <p:spPr>
          <a:xfrm>
            <a:off x="1225550" y="6885286"/>
            <a:ext cx="18021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90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softmax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2863850" y="6697960"/>
            <a:ext cx="9525" cy="336550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130" name="Shape 128"/>
          <p:cNvSpPr/>
          <p:nvPr/>
        </p:nvSpPr>
        <p:spPr>
          <a:xfrm>
            <a:off x="2870200" y="66979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1" name="Shape 129"/>
          <p:cNvSpPr/>
          <p:nvPr/>
        </p:nvSpPr>
        <p:spPr>
          <a:xfrm>
            <a:off x="4824115" y="66979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778129" y="66979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3" name="Shape 131"/>
          <p:cNvSpPr/>
          <p:nvPr/>
        </p:nvSpPr>
        <p:spPr>
          <a:xfrm>
            <a:off x="8732143" y="66979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686058" y="66979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2640073" y="66979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4594086" y="66979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6548100" y="66979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6059548" y="6697960"/>
            <a:ext cx="19050" cy="3365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</p:spPr>
      </p:sp>
      <p:sp>
        <p:nvSpPr>
          <p:cNvPr id="139" name="Shape 137"/>
          <p:cNvSpPr/>
          <p:nvPr/>
        </p:nvSpPr>
        <p:spPr>
          <a:xfrm>
            <a:off x="4335661" y="6764635"/>
            <a:ext cx="488454" cy="203200"/>
          </a:xfrm>
          <a:prstGeom prst="roundRect">
            <a:avLst>
              <a:gd name="adj" fmla="val 9375"/>
            </a:avLst>
          </a:prstGeom>
          <a:solidFill>
            <a:srgbClr val="B23A2E">
              <a:alpha val="92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5068392" y="6764635"/>
            <a:ext cx="488454" cy="203200"/>
          </a:xfrm>
          <a:prstGeom prst="roundRect">
            <a:avLst>
              <a:gd name="adj" fmla="val 9375"/>
            </a:avLst>
          </a:prstGeom>
          <a:solidFill>
            <a:srgbClr val="B23A2E">
              <a:alpha val="92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5801122" y="6764635"/>
            <a:ext cx="488454" cy="203200"/>
          </a:xfrm>
          <a:prstGeom prst="roundRect">
            <a:avLst>
              <a:gd name="adj" fmla="val 9375"/>
            </a:avLst>
          </a:prstGeom>
          <a:solidFill>
            <a:srgbClr val="B23A2E">
              <a:alpha val="92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6533852" y="6764635"/>
            <a:ext cx="488454" cy="203200"/>
          </a:xfrm>
          <a:prstGeom prst="roundRect">
            <a:avLst>
              <a:gd name="adj" fmla="val 9375"/>
            </a:avLst>
          </a:prstGeom>
          <a:solidFill>
            <a:srgbClr val="B23A2E">
              <a:alpha val="92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7266583" y="6764635"/>
            <a:ext cx="488454" cy="203200"/>
          </a:xfrm>
          <a:prstGeom prst="roundRect">
            <a:avLst>
              <a:gd name="adj" fmla="val 9375"/>
            </a:avLst>
          </a:prstGeom>
          <a:solidFill>
            <a:srgbClr val="B23A2E">
              <a:alpha val="92000"/>
            </a:srgbClr>
          </a:solidFill>
          <a:ln/>
        </p:spPr>
      </p:sp>
      <p:sp>
        <p:nvSpPr>
          <p:cNvPr id="144" name="Text 142"/>
          <p:cNvSpPr/>
          <p:nvPr/>
        </p:nvSpPr>
        <p:spPr>
          <a:xfrm>
            <a:off x="16492855" y="6783685"/>
            <a:ext cx="5505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45%</a:t>
            </a:r>
            <a:endParaRPr lang="en-US" sz="1125" dirty="0"/>
          </a:p>
        </p:txBody>
      </p:sp>
      <p:sp>
        <p:nvSpPr>
          <p:cNvPr id="145" name="Shape 143"/>
          <p:cNvSpPr/>
          <p:nvPr/>
        </p:nvSpPr>
        <p:spPr>
          <a:xfrm>
            <a:off x="1187450" y="7377410"/>
            <a:ext cx="15913101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146" name="Text 144"/>
          <p:cNvSpPr/>
          <p:nvPr/>
        </p:nvSpPr>
        <p:spPr>
          <a:xfrm>
            <a:off x="1225550" y="7056736"/>
            <a:ext cx="18021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B0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MTE3</a:t>
            </a:r>
            <a:endParaRPr lang="en-US" sz="1125" dirty="0"/>
          </a:p>
        </p:txBody>
      </p:sp>
      <p:sp>
        <p:nvSpPr>
          <p:cNvPr id="147" name="Text 145"/>
          <p:cNvSpPr/>
          <p:nvPr/>
        </p:nvSpPr>
        <p:spPr>
          <a:xfrm>
            <a:off x="1225550" y="7228186"/>
            <a:ext cx="18021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90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拷出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2863850" y="7040860"/>
            <a:ext cx="9525" cy="336550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149" name="Shape 147"/>
          <p:cNvSpPr/>
          <p:nvPr/>
        </p:nvSpPr>
        <p:spPr>
          <a:xfrm>
            <a:off x="2870200" y="70408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824115" y="70408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51" name="Shape 149"/>
          <p:cNvSpPr/>
          <p:nvPr/>
        </p:nvSpPr>
        <p:spPr>
          <a:xfrm>
            <a:off x="6778129" y="70408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52" name="Shape 150"/>
          <p:cNvSpPr/>
          <p:nvPr/>
        </p:nvSpPr>
        <p:spPr>
          <a:xfrm>
            <a:off x="8732143" y="70408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0686058" y="70408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54" name="Shape 152"/>
          <p:cNvSpPr/>
          <p:nvPr/>
        </p:nvSpPr>
        <p:spPr>
          <a:xfrm>
            <a:off x="12640073" y="70408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55" name="Shape 153"/>
          <p:cNvSpPr/>
          <p:nvPr/>
        </p:nvSpPr>
        <p:spPr>
          <a:xfrm>
            <a:off x="14594086" y="70408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6548100" y="7040860"/>
            <a:ext cx="9525" cy="336550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6059548" y="7040860"/>
            <a:ext cx="19050" cy="33655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/>
        </p:spPr>
      </p:sp>
      <p:sp>
        <p:nvSpPr>
          <p:cNvPr id="158" name="Shape 156"/>
          <p:cNvSpPr/>
          <p:nvPr/>
        </p:nvSpPr>
        <p:spPr>
          <a:xfrm>
            <a:off x="7510860" y="7107535"/>
            <a:ext cx="732730" cy="203200"/>
          </a:xfrm>
          <a:prstGeom prst="roundRect">
            <a:avLst>
              <a:gd name="adj" fmla="val 9375"/>
            </a:avLst>
          </a:prstGeom>
          <a:solidFill>
            <a:srgbClr val="B0892B">
              <a:alpha val="92000"/>
            </a:srgbClr>
          </a:solidFill>
          <a:ln/>
        </p:spPr>
      </p:sp>
      <p:sp>
        <p:nvSpPr>
          <p:cNvPr id="159" name="Text 157"/>
          <p:cNvSpPr/>
          <p:nvPr/>
        </p:nvSpPr>
        <p:spPr>
          <a:xfrm>
            <a:off x="16492855" y="7126585"/>
            <a:ext cx="5505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14%</a:t>
            </a:r>
            <a:endParaRPr lang="en-US" sz="1125" dirty="0"/>
          </a:p>
        </p:txBody>
      </p:sp>
      <p:sp>
        <p:nvSpPr>
          <p:cNvPr id="160" name="Text 158"/>
          <p:cNvSpPr/>
          <p:nvPr/>
        </p:nvSpPr>
        <p:spPr>
          <a:xfrm>
            <a:off x="2832398" y="7412335"/>
            <a:ext cx="13910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25" dirty="0"/>
          </a:p>
        </p:txBody>
      </p:sp>
      <p:sp>
        <p:nvSpPr>
          <p:cNvPr id="161" name="Text 159"/>
          <p:cNvSpPr/>
          <p:nvPr/>
        </p:nvSpPr>
        <p:spPr>
          <a:xfrm>
            <a:off x="4787205" y="7412335"/>
            <a:ext cx="13910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25" dirty="0"/>
          </a:p>
        </p:txBody>
      </p:sp>
      <p:sp>
        <p:nvSpPr>
          <p:cNvPr id="162" name="Text 160"/>
          <p:cNvSpPr/>
          <p:nvPr/>
        </p:nvSpPr>
        <p:spPr>
          <a:xfrm>
            <a:off x="6710660" y="741233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25" dirty="0"/>
          </a:p>
        </p:txBody>
      </p:sp>
      <p:sp>
        <p:nvSpPr>
          <p:cNvPr id="163" name="Text 161"/>
          <p:cNvSpPr/>
          <p:nvPr/>
        </p:nvSpPr>
        <p:spPr>
          <a:xfrm>
            <a:off x="8665568" y="741233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825" dirty="0"/>
          </a:p>
        </p:txBody>
      </p:sp>
      <p:sp>
        <p:nvSpPr>
          <p:cNvPr id="164" name="Text 162"/>
          <p:cNvSpPr/>
          <p:nvPr/>
        </p:nvSpPr>
        <p:spPr>
          <a:xfrm>
            <a:off x="10620475" y="741233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825" dirty="0"/>
          </a:p>
        </p:txBody>
      </p:sp>
      <p:sp>
        <p:nvSpPr>
          <p:cNvPr id="165" name="Text 163"/>
          <p:cNvSpPr/>
          <p:nvPr/>
        </p:nvSpPr>
        <p:spPr>
          <a:xfrm>
            <a:off x="12575381" y="741233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825" dirty="0"/>
          </a:p>
        </p:txBody>
      </p:sp>
      <p:sp>
        <p:nvSpPr>
          <p:cNvPr id="166" name="Text 164"/>
          <p:cNvSpPr/>
          <p:nvPr/>
        </p:nvSpPr>
        <p:spPr>
          <a:xfrm>
            <a:off x="14530289" y="741233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825" dirty="0"/>
          </a:p>
        </p:txBody>
      </p:sp>
      <p:sp>
        <p:nvSpPr>
          <p:cNvPr id="167" name="Text 165"/>
          <p:cNvSpPr/>
          <p:nvPr/>
        </p:nvSpPr>
        <p:spPr>
          <a:xfrm>
            <a:off x="16485196" y="7412335"/>
            <a:ext cx="20200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825" dirty="0"/>
          </a:p>
        </p:txBody>
      </p:sp>
      <p:sp>
        <p:nvSpPr>
          <p:cNvPr id="168" name="Text 166"/>
          <p:cNvSpPr/>
          <p:nvPr/>
        </p:nvSpPr>
        <p:spPr>
          <a:xfrm>
            <a:off x="16471900" y="7412335"/>
            <a:ext cx="5715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14400" y="9045575"/>
            <a:ext cx="16952976" cy="517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350" b="1" dirty="0">
                <a:solidFill>
                  <a:srgbClr val="3A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2. </a:t>
            </a:r>
            <a:pPr algn="l" indent="0" marL="0">
              <a:lnSpc>
                <a:spcPct val="138000"/>
              </a:lnSpc>
              <a:buNone/>
            </a:pPr>
            <a:r>
              <a:rPr lang="en-US" sz="1350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单个 MSA 分块中各引擎的繁忙窗口。GPU 风格内核逐阶段串行执行——拷入一个 KV 块、计算、拷出——因此 MTE2 / Vector / MTE3 大部分时间空闲，单块耗时接近 54 周期。Triton-Ascend 重写通过 </a:t>
            </a:r>
            <a:pPr algn="l"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make_block_ptr </a:t>
            </a:r>
            <a:pPr algn="l" indent="0" marL="0">
              <a:lnSpc>
                <a:spcPct val="138000"/>
              </a:lnSpc>
              <a:buNone/>
            </a:pPr>
            <a:r>
              <a:rPr lang="en-US" sz="1350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DMA 将 Top-k 循环流水化：下一个 KV 块在当前块的 QKᵀ 与 softmax 仍在进行时便开始拷入，于是四个引擎相互重叠，同样的工作量在 ≈ 22 周期内完成（虚线 = 旧的收尾位置）。</a:t>
            </a:r>
            <a:endParaRPr lang="en-US" sz="1350" dirty="0"/>
          </a:p>
        </p:txBody>
      </p:sp>
      <p:sp>
        <p:nvSpPr>
          <p:cNvPr id="170" name="Shape 168"/>
          <p:cNvSpPr/>
          <p:nvPr/>
        </p:nvSpPr>
        <p:spPr>
          <a:xfrm>
            <a:off x="914400" y="9715500"/>
            <a:ext cx="16459200" cy="9525"/>
          </a:xfrm>
          <a:prstGeom prst="rect">
            <a:avLst/>
          </a:prstGeom>
          <a:solidFill>
            <a:srgbClr val="DDD8CC"/>
          </a:solidFill>
          <a:ln/>
        </p:spPr>
      </p:sp>
      <p:sp>
        <p:nvSpPr>
          <p:cNvPr id="171" name="Text 169"/>
          <p:cNvSpPr/>
          <p:nvPr/>
        </p:nvSpPr>
        <p:spPr>
          <a:xfrm>
            <a:off x="914400" y="9817101"/>
            <a:ext cx="157162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昇腾算子内核性能剖析</a:t>
            </a:r>
            <a:endParaRPr lang="en-US" sz="1125" dirty="0"/>
          </a:p>
        </p:txBody>
      </p:sp>
      <p:sp>
        <p:nvSpPr>
          <p:cNvPr id="172" name="Text 170"/>
          <p:cNvSpPr/>
          <p:nvPr/>
        </p:nvSpPr>
        <p:spPr>
          <a:xfrm>
            <a:off x="16773525" y="9817101"/>
            <a:ext cx="6762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08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1810512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5" kern="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 MSA 内核 —— NPU 指标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831850"/>
            <a:ext cx="181051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525" b="1" spc="-37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这次迁移换来了什么——用计数器说话</a:t>
            </a:r>
            <a:endParaRPr lang="en-US" sz="3525" dirty="0"/>
          </a:p>
        </p:txBody>
      </p:sp>
      <p:sp>
        <p:nvSpPr>
          <p:cNvPr id="4" name="Shape 2"/>
          <p:cNvSpPr/>
          <p:nvPr/>
        </p:nvSpPr>
        <p:spPr>
          <a:xfrm>
            <a:off x="914400" y="1631950"/>
            <a:ext cx="8754269" cy="5107881"/>
          </a:xfrm>
          <a:prstGeom prst="roundRect">
            <a:avLst>
              <a:gd name="adj" fmla="val 1865"/>
            </a:avLst>
          </a:prstGeom>
          <a:solidFill>
            <a:srgbClr val="FCFBF8"/>
          </a:solidFill>
          <a:ln w="6350">
            <a:solidFill>
              <a:srgbClr val="DDD8CC"/>
            </a:solidFill>
            <a:prstDash val="solid"/>
          </a:ln>
          <a:effectLst>
            <a:outerShdw sx="100000" sy="100000" kx="0" ky="0" algn="bl" rotWithShape="0" blurRad="285750" dist="95250" dir="5400000">
              <a:srgbClr val="141E3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6500" y="1979613"/>
            <a:ext cx="85626" cy="104775"/>
          </a:xfrm>
          <a:prstGeom prst="ellipse">
            <a:avLst/>
          </a:prstGeom>
          <a:solidFill>
            <a:srgbClr val="E0884E"/>
          </a:solidFill>
          <a:ln/>
        </p:spPr>
      </p:sp>
      <p:sp>
        <p:nvSpPr>
          <p:cNvPr id="6" name="Text 4"/>
          <p:cNvSpPr/>
          <p:nvPr/>
        </p:nvSpPr>
        <p:spPr>
          <a:xfrm>
            <a:off x="1387376" y="1828800"/>
            <a:ext cx="3618021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MindStudio Insight · AI Core Op Summary · core0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00017" y="1970088"/>
            <a:ext cx="100013" cy="123825"/>
          </a:xfrm>
          <a:prstGeom prst="roundRect">
            <a:avLst>
              <a:gd name="adj" fmla="val 19048"/>
            </a:avLst>
          </a:prstGeom>
          <a:solidFill>
            <a:srgbClr val="B23A2E"/>
          </a:solidFill>
          <a:ln/>
        </p:spPr>
      </p:sp>
      <p:sp>
        <p:nvSpPr>
          <p:cNvPr id="8" name="Text 6"/>
          <p:cNvSpPr/>
          <p:nvPr/>
        </p:nvSpPr>
        <p:spPr>
          <a:xfrm>
            <a:off x="5076230" y="1860550"/>
            <a:ext cx="11563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GPU-style · msa_fwd_kernel</a:t>
            </a:r>
            <a:endParaRPr lang="en-US" sz="1013" dirty="0"/>
          </a:p>
        </p:txBody>
      </p:sp>
      <p:sp>
        <p:nvSpPr>
          <p:cNvPr id="9" name="Shape 7"/>
          <p:cNvSpPr/>
          <p:nvPr/>
        </p:nvSpPr>
        <p:spPr>
          <a:xfrm>
            <a:off x="6887766" y="1970088"/>
            <a:ext cx="100310" cy="123825"/>
          </a:xfrm>
          <a:prstGeom prst="roundRect">
            <a:avLst>
              <a:gd name="adj" fmla="val 18991"/>
            </a:avLst>
          </a:prstGeom>
          <a:solidFill>
            <a:srgbClr val="3A7D44"/>
          </a:solidFill>
          <a:ln/>
        </p:spPr>
      </p:sp>
      <p:sp>
        <p:nvSpPr>
          <p:cNvPr id="10" name="Text 8"/>
          <p:cNvSpPr/>
          <p:nvPr/>
        </p:nvSpPr>
        <p:spPr>
          <a:xfrm>
            <a:off x="7064276" y="1860550"/>
            <a:ext cx="16964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triton-ascend · msa_fwd_kernel_ascend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1206500" y="2330450"/>
            <a:ext cx="898707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msprof op simulator · Ascend910B1 CA-model · Hq=2 Hkv=1 (GQA=2) · N=128 · D=64 · BLOCK=32 · TOPK=2 · fp16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339850" y="2641600"/>
            <a:ext cx="884039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CYCLES PER ENGINE · % OF GPU-STYLE BASELINE</a:t>
            </a:r>
            <a:endParaRPr lang="en-US" sz="112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9850" y="2901950"/>
            <a:ext cx="8036719" cy="3390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39850" y="6330950"/>
            <a:ext cx="8840391" cy="23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kernels PASS vs CPU torch block-sparse reference · max|Δ|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2.42e-4 </a:t>
            </a:r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(GPU-style) / 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1.89e-4 </a:t>
            </a:r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(triton-ascend)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916319" y="1651000"/>
            <a:ext cx="7457281" cy="450850"/>
          </a:xfrm>
          <a:prstGeom prst="roundRect">
            <a:avLst>
              <a:gd name="adj" fmla="val 16901"/>
            </a:avLst>
          </a:prstGeom>
          <a:solidFill>
            <a:srgbClr val="EDF6EE"/>
          </a:solidFill>
          <a:ln w="6350">
            <a:solidFill>
              <a:srgbClr val="CFE4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75069" y="1743075"/>
            <a:ext cx="7907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1.87×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10884893" y="1781175"/>
            <a:ext cx="260726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33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核耗时更快 </a:t>
            </a:r>
            <a:pPr algn="l" indent="0" marL="0">
              <a:buNone/>
            </a:pPr>
            <a:r>
              <a:rPr lang="en-US" sz="938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(64.85→34.72 µs)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9916319" y="2216150"/>
            <a:ext cx="7457281" cy="2978150"/>
          </a:xfrm>
          <a:prstGeom prst="roundRect">
            <a:avLst>
              <a:gd name="adj" fmla="val 255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22669" y="2222500"/>
            <a:ext cx="7444582" cy="282575"/>
          </a:xfrm>
          <a:prstGeom prst="rect">
            <a:avLst/>
          </a:prstGeom>
          <a:solidFill>
            <a:srgbClr val="F0ECE0"/>
          </a:solidFill>
          <a:ln/>
        </p:spPr>
      </p:sp>
      <p:sp>
        <p:nvSpPr>
          <p:cNvPr id="20" name="Text 17"/>
          <p:cNvSpPr/>
          <p:nvPr/>
        </p:nvSpPr>
        <p:spPr>
          <a:xfrm>
            <a:off x="10008394" y="2289175"/>
            <a:ext cx="1728192" cy="187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spc="38" kern="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指标 (CORE0)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11831836" y="2289175"/>
            <a:ext cx="1769963" cy="187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spc="38" kern="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风格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13697050" y="2289175"/>
            <a:ext cx="2302768" cy="187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spc="38" kern="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昇腾风格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16095068" y="2289175"/>
            <a:ext cx="1262658" cy="187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spc="38" kern="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比值</a:t>
            </a:r>
            <a:endParaRPr lang="en-US" sz="788" dirty="0"/>
          </a:p>
        </p:txBody>
      </p:sp>
      <p:sp>
        <p:nvSpPr>
          <p:cNvPr id="24" name="Shape 21"/>
          <p:cNvSpPr/>
          <p:nvPr/>
        </p:nvSpPr>
        <p:spPr>
          <a:xfrm>
            <a:off x="9922669" y="2505075"/>
            <a:ext cx="7444582" cy="9525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25" name="Text 22"/>
          <p:cNvSpPr/>
          <p:nvPr/>
        </p:nvSpPr>
        <p:spPr>
          <a:xfrm>
            <a:off x="10008394" y="2562225"/>
            <a:ext cx="1728192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编译内核</a:t>
            </a:r>
            <a:endParaRPr lang="en-US" sz="938" dirty="0"/>
          </a:p>
        </p:txBody>
      </p:sp>
      <p:sp>
        <p:nvSpPr>
          <p:cNvPr id="26" name="Text 23"/>
          <p:cNvSpPr/>
          <p:nvPr/>
        </p:nvSpPr>
        <p:spPr>
          <a:xfrm>
            <a:off x="11831836" y="2562225"/>
            <a:ext cx="1769963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msa_fwd_kernel_mix_aic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3697050" y="2562225"/>
            <a:ext cx="230276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msa_fwd_kernel_ascend_mix_aic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6095068" y="2562225"/>
            <a:ext cx="126265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均为 cube+vector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922669" y="2803525"/>
            <a:ext cx="7444582" cy="9525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30" name="Text 27"/>
          <p:cNvSpPr/>
          <p:nvPr/>
        </p:nvSpPr>
        <p:spPr>
          <a:xfrm>
            <a:off x="10008394" y="2860675"/>
            <a:ext cx="1728192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正确性 (对比 torch)</a:t>
            </a:r>
            <a:endParaRPr lang="en-US" sz="938" dirty="0"/>
          </a:p>
        </p:txBody>
      </p:sp>
      <p:sp>
        <p:nvSpPr>
          <p:cNvPr id="31" name="Text 28"/>
          <p:cNvSpPr/>
          <p:nvPr/>
        </p:nvSpPr>
        <p:spPr>
          <a:xfrm>
            <a:off x="11831836" y="2860675"/>
            <a:ext cx="1769963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</a:t>
            </a:r>
            <a:pPr algn="l" indent="0" marL="0">
              <a:buNone/>
            </a:pPr>
            <a:r>
              <a:rPr lang="en-US" sz="90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2.42e-4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3697050" y="2860675"/>
            <a:ext cx="230276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</a:t>
            </a:r>
            <a:pPr algn="l" indent="0" marL="0">
              <a:buNone/>
            </a:pPr>
            <a:r>
              <a:rPr lang="en-US" sz="90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1.89e-4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6095068" y="2860675"/>
            <a:ext cx="126265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922669" y="3101975"/>
            <a:ext cx="7444582" cy="9525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35" name="Text 32"/>
          <p:cNvSpPr/>
          <p:nvPr/>
        </p:nvSpPr>
        <p:spPr>
          <a:xfrm>
            <a:off x="10008394" y="3159125"/>
            <a:ext cx="1728192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核耗时</a:t>
            </a:r>
            <a:endParaRPr lang="en-US" sz="938" dirty="0"/>
          </a:p>
        </p:txBody>
      </p:sp>
      <p:sp>
        <p:nvSpPr>
          <p:cNvPr id="36" name="Text 33"/>
          <p:cNvSpPr/>
          <p:nvPr/>
        </p:nvSpPr>
        <p:spPr>
          <a:xfrm>
            <a:off x="11831836" y="3159125"/>
            <a:ext cx="1769963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64.85 µs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3697050" y="3159125"/>
            <a:ext cx="230276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34.72 µs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6095068" y="3159125"/>
            <a:ext cx="126265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快 1.87×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922669" y="3400425"/>
            <a:ext cx="7444582" cy="9525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40" name="Text 37"/>
          <p:cNvSpPr/>
          <p:nvPr/>
        </p:nvSpPr>
        <p:spPr>
          <a:xfrm>
            <a:off x="10008394" y="3457575"/>
            <a:ext cx="1728192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核总周期</a:t>
            </a:r>
            <a:endParaRPr lang="en-US" sz="938" dirty="0"/>
          </a:p>
        </p:txBody>
      </p:sp>
      <p:sp>
        <p:nvSpPr>
          <p:cNvPr id="41" name="Text 38"/>
          <p:cNvSpPr/>
          <p:nvPr/>
        </p:nvSpPr>
        <p:spPr>
          <a:xfrm>
            <a:off x="11831836" y="3457575"/>
            <a:ext cx="1769963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587,494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3697050" y="3457575"/>
            <a:ext cx="230276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208,720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6095068" y="3457575"/>
            <a:ext cx="126265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少 2.8×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922669" y="3698875"/>
            <a:ext cx="7444582" cy="9525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45" name="Text 42"/>
          <p:cNvSpPr/>
          <p:nvPr/>
        </p:nvSpPr>
        <p:spPr>
          <a:xfrm>
            <a:off x="10008394" y="3756025"/>
            <a:ext cx="1728192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MTE2 (GM→UB 加载) 周期</a:t>
            </a:r>
            <a:endParaRPr lang="en-US" sz="938" dirty="0"/>
          </a:p>
        </p:txBody>
      </p:sp>
      <p:sp>
        <p:nvSpPr>
          <p:cNvPr id="46" name="Text 43"/>
          <p:cNvSpPr/>
          <p:nvPr/>
        </p:nvSpPr>
        <p:spPr>
          <a:xfrm>
            <a:off x="11831836" y="3756025"/>
            <a:ext cx="1769963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162,861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3697050" y="3756025"/>
            <a:ext cx="230276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13,032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6095068" y="3756025"/>
            <a:ext cx="126265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少 12.5×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9922669" y="3997325"/>
            <a:ext cx="7444582" cy="9525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0" name="Text 47"/>
          <p:cNvSpPr/>
          <p:nvPr/>
        </p:nvSpPr>
        <p:spPr>
          <a:xfrm>
            <a:off x="10008394" y="4054475"/>
            <a:ext cx="1728192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MTE3 (UB→GM 存储) 周期</a:t>
            </a:r>
            <a:endParaRPr lang="en-US" sz="938" dirty="0"/>
          </a:p>
        </p:txBody>
      </p:sp>
      <p:sp>
        <p:nvSpPr>
          <p:cNvPr id="51" name="Text 48"/>
          <p:cNvSpPr/>
          <p:nvPr/>
        </p:nvSpPr>
        <p:spPr>
          <a:xfrm>
            <a:off x="11831836" y="4054475"/>
            <a:ext cx="1769963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69,915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3697050" y="4054475"/>
            <a:ext cx="230276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11,231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6095068" y="4054475"/>
            <a:ext cx="126265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少 6.2×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9922669" y="4295775"/>
            <a:ext cx="7444582" cy="9525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5" name="Text 52"/>
          <p:cNvSpPr/>
          <p:nvPr/>
        </p:nvSpPr>
        <p:spPr>
          <a:xfrm>
            <a:off x="10008394" y="4352925"/>
            <a:ext cx="1728192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SCALAR 周期</a:t>
            </a:r>
            <a:endParaRPr lang="en-US" sz="938" dirty="0"/>
          </a:p>
        </p:txBody>
      </p:sp>
      <p:sp>
        <p:nvSpPr>
          <p:cNvPr id="56" name="Text 53"/>
          <p:cNvSpPr/>
          <p:nvPr/>
        </p:nvSpPr>
        <p:spPr>
          <a:xfrm>
            <a:off x="11831836" y="4352925"/>
            <a:ext cx="1769963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132,051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3697050" y="4352925"/>
            <a:ext cx="230276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129,260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6095068" y="4352925"/>
            <a:ext cx="126265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持平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9922669" y="4594225"/>
            <a:ext cx="7444582" cy="9525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60" name="Text 57"/>
          <p:cNvSpPr/>
          <p:nvPr/>
        </p:nvSpPr>
        <p:spPr>
          <a:xfrm>
            <a:off x="10008394" y="4651375"/>
            <a:ext cx="1728192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(softmax) 周期</a:t>
            </a:r>
            <a:endParaRPr lang="en-US" sz="938" dirty="0"/>
          </a:p>
        </p:txBody>
      </p:sp>
      <p:sp>
        <p:nvSpPr>
          <p:cNvPr id="61" name="Text 58"/>
          <p:cNvSpPr/>
          <p:nvPr/>
        </p:nvSpPr>
        <p:spPr>
          <a:xfrm>
            <a:off x="11831836" y="4651375"/>
            <a:ext cx="1769963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25,836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13697050" y="4651375"/>
            <a:ext cx="230276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28,656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6095068" y="4651375"/>
            <a:ext cx="1262658" cy="222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持平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9922669" y="4892675"/>
            <a:ext cx="7444582" cy="9525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65" name="Text 62"/>
          <p:cNvSpPr/>
          <p:nvPr/>
        </p:nvSpPr>
        <p:spPr>
          <a:xfrm>
            <a:off x="10008394" y="4949825"/>
            <a:ext cx="1728192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Cube 核周期 (tl.dot)</a:t>
            </a:r>
            <a:endParaRPr lang="en-US" sz="938" dirty="0"/>
          </a:p>
        </p:txBody>
      </p:sp>
      <p:sp>
        <p:nvSpPr>
          <p:cNvPr id="66" name="Text 63"/>
          <p:cNvSpPr/>
          <p:nvPr/>
        </p:nvSpPr>
        <p:spPr>
          <a:xfrm>
            <a:off x="11831836" y="4949825"/>
            <a:ext cx="1769963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30,602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13697050" y="4949825"/>
            <a:ext cx="2302768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29,969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16095068" y="4949825"/>
            <a:ext cx="1262658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持平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914400" y="6873180"/>
            <a:ext cx="16952976" cy="465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238" b="1" dirty="0">
                <a:solidFill>
                  <a:srgbClr val="B2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3. </a:t>
            </a:r>
            <a:pPr algn="l" indent="0" marL="0">
              <a:lnSpc>
                <a:spcPct val="136000"/>
              </a:lnSpc>
              <a:buNone/>
            </a:pPr>
            <a:r>
              <a:rPr lang="en-US" sz="1238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MSA 内核的真实 AI Core 算子汇总计数器 (core0)——GPU 风格 </a:t>
            </a:r>
            <a:pPr algn="l" indent="0" marL="0">
              <a:lnSpc>
                <a:spcPct val="136000"/>
              </a:lnSpc>
              <a:buNone/>
            </a:pPr>
            <a:r>
              <a:rPr lang="en-US" sz="1238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msa_fwd_kernel </a:t>
            </a:r>
            <a:pPr algn="l" indent="0" marL="0">
              <a:lnSpc>
                <a:spcPct val="136000"/>
              </a:lnSpc>
              <a:buNone/>
            </a:pPr>
            <a:r>
              <a:rPr lang="en-US" sz="1238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对比 triton-ascend </a:t>
            </a:r>
            <a:pPr algn="l" indent="0" marL="0">
              <a:lnSpc>
                <a:spcPct val="136000"/>
              </a:lnSpc>
              <a:buNone/>
            </a:pPr>
            <a:r>
              <a:rPr lang="en-US" sz="1238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msa_fwd_kernel_ascend</a:t>
            </a:r>
            <a:pPr algn="l" indent="0" marL="0">
              <a:lnSpc>
                <a:spcPct val="136000"/>
              </a:lnSpc>
              <a:buNone/>
            </a:pPr>
            <a:r>
              <a:rPr lang="en-US" sz="1238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。把每次张量访问改写为 </a:t>
            </a:r>
            <a:pPr algn="l" indent="0" marL="0">
              <a:lnSpc>
                <a:spcPct val="136000"/>
              </a:lnSpc>
              <a:buNone/>
            </a:pPr>
            <a:r>
              <a:rPr lang="en-US" sz="1238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make_block_ptr </a:t>
            </a:r>
            <a:pPr algn="l" indent="0" marL="0">
              <a:lnSpc>
                <a:spcPct val="136000"/>
              </a:lnSpc>
              <a:buNone/>
            </a:pPr>
            <a:r>
              <a:rPr lang="en-US" sz="1238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</a:t>
            </a:r>
            <a:pPr algn="l" indent="0" marL="0">
              <a:lnSpc>
                <a:spcPct val="136000"/>
              </a:lnSpc>
              <a:buNone/>
            </a:pPr>
            <a:r>
              <a:rPr lang="en-US" sz="1238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boundary_check</a:t>
            </a:r>
            <a:pPr algn="l" indent="0" marL="0">
              <a:lnSpc>
                <a:spcPct val="136000"/>
              </a:lnSpc>
              <a:buNone/>
            </a:pPr>
            <a:r>
              <a:rPr lang="en-US" sz="1238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，使 </a:t>
            </a:r>
            <a:pPr algn="l" indent="0" marL="0">
              <a:lnSpc>
                <a:spcPct val="136000"/>
              </a:lnSpc>
              <a:buNone/>
            </a:pPr>
            <a:r>
              <a:rPr lang="en-US" sz="1238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MTE2 </a:t>
            </a:r>
            <a:pPr algn="l" indent="0" marL="0">
              <a:lnSpc>
                <a:spcPct val="136000"/>
              </a:lnSpc>
              <a:buNone/>
            </a:pPr>
            <a:r>
              <a:rPr lang="en-US" sz="1238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Copy-In 缩减 12.5×、 </a:t>
            </a:r>
            <a:pPr algn="l" indent="0" marL="0">
              <a:lnSpc>
                <a:spcPct val="136000"/>
              </a:lnSpc>
              <a:buNone/>
            </a:pPr>
            <a:r>
              <a:rPr lang="en-US" sz="1238" dirty="0">
                <a:solidFill>
                  <a:srgbClr val="6B6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MTE3 </a:t>
            </a:r>
            <a:pPr algn="l" indent="0" marL="0">
              <a:lnSpc>
                <a:spcPct val="136000"/>
              </a:lnSpc>
              <a:buNone/>
            </a:pPr>
            <a:r>
              <a:rPr lang="en-US" sz="1238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Copy-Out 缩减 6.2×，而 SCALAR / VECTOR / CUBE 保持在 3% 以内。</a:t>
            </a:r>
            <a:endParaRPr lang="en-US" sz="1238" dirty="0"/>
          </a:p>
        </p:txBody>
      </p:sp>
      <p:sp>
        <p:nvSpPr>
          <p:cNvPr id="70" name="Text 67"/>
          <p:cNvSpPr/>
          <p:nvPr/>
        </p:nvSpPr>
        <p:spPr>
          <a:xfrm>
            <a:off x="914400" y="7357765"/>
            <a:ext cx="18105120" cy="251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238" b="1" dirty="0">
                <a:solidFill>
                  <a:srgbClr val="B2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4. </a:t>
            </a:r>
            <a:pPr algn="l" indent="0" marL="0">
              <a:lnSpc>
                <a:spcPct val="136000"/>
              </a:lnSpc>
              <a:buNone/>
            </a:pPr>
            <a:r>
              <a:rPr lang="en-US" sz="1238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完整结果表。两个内核是同一套块稀疏 flash-attention——遍历 Top-k 选中的 KV 块、单趟 online-softmax——都通过了 CPU torch 参考；差别只在访存惯用法。</a:t>
            </a:r>
            <a:endParaRPr lang="en-US" sz="1238" dirty="0"/>
          </a:p>
        </p:txBody>
      </p:sp>
      <p:sp>
        <p:nvSpPr>
          <p:cNvPr id="71" name="Shape 68"/>
          <p:cNvSpPr/>
          <p:nvPr/>
        </p:nvSpPr>
        <p:spPr>
          <a:xfrm>
            <a:off x="914400" y="9715500"/>
            <a:ext cx="16459200" cy="9525"/>
          </a:xfrm>
          <a:prstGeom prst="rect">
            <a:avLst/>
          </a:prstGeom>
          <a:solidFill>
            <a:srgbClr val="DDD8CC"/>
          </a:solidFill>
          <a:ln/>
        </p:spPr>
      </p:sp>
      <p:sp>
        <p:nvSpPr>
          <p:cNvPr id="72" name="Text 69"/>
          <p:cNvSpPr/>
          <p:nvPr/>
        </p:nvSpPr>
        <p:spPr>
          <a:xfrm>
            <a:off x="914400" y="9817101"/>
            <a:ext cx="157162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昇腾算子内核性能剖析</a:t>
            </a:r>
            <a:endParaRPr lang="en-US" sz="1125" dirty="0"/>
          </a:p>
        </p:txBody>
      </p:sp>
      <p:sp>
        <p:nvSpPr>
          <p:cNvPr id="73" name="Text 70"/>
          <p:cNvSpPr/>
          <p:nvPr/>
        </p:nvSpPr>
        <p:spPr>
          <a:xfrm>
            <a:off x="16773525" y="9817101"/>
            <a:ext cx="6762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08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810512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5" kern="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 MINIMAX-M3 —— 算子明细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1022350"/>
            <a:ext cx="1810512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spc="-37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一个完整训练步的时间都花在哪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14400" y="1898650"/>
            <a:ext cx="16459200" cy="6851650"/>
          </a:xfrm>
          <a:prstGeom prst="roundRect">
            <a:avLst>
              <a:gd name="adj" fmla="val 1112"/>
            </a:avLst>
          </a:prstGeom>
          <a:solidFill>
            <a:srgbClr val="FFFFFF"/>
          </a:solidFill>
          <a:ln w="6350">
            <a:solidFill>
              <a:srgbClr val="E6E9ED"/>
            </a:solidFill>
            <a:prstDash val="solid"/>
          </a:ln>
          <a:effectLst>
            <a:outerShdw sx="100000" sy="100000" kx="0" ky="0" algn="bl" rotWithShape="0" blurRad="285750" dist="95250" dir="5400000">
              <a:srgbClr val="141E3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30300" y="2079625"/>
            <a:ext cx="153822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Details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046972" y="2047875"/>
            <a:ext cx="1869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6BC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20750" y="2759075"/>
            <a:ext cx="16446501" cy="9525"/>
          </a:xfrm>
          <a:prstGeom prst="rect">
            <a:avLst/>
          </a:prstGeom>
          <a:solidFill>
            <a:srgbClr val="E6E9ED"/>
          </a:solidFill>
          <a:ln/>
        </p:spPr>
      </p:sp>
      <p:sp>
        <p:nvSpPr>
          <p:cNvPr id="8" name="Shape 6"/>
          <p:cNvSpPr/>
          <p:nvPr/>
        </p:nvSpPr>
        <p:spPr>
          <a:xfrm>
            <a:off x="1130300" y="2740025"/>
            <a:ext cx="613271" cy="19050"/>
          </a:xfrm>
          <a:prstGeom prst="rect">
            <a:avLst/>
          </a:prstGeom>
          <a:solidFill>
            <a:srgbClr val="13B3A6"/>
          </a:solidFill>
          <a:ln/>
        </p:spPr>
      </p:sp>
      <p:sp>
        <p:nvSpPr>
          <p:cNvPr id="9" name="Text 7"/>
          <p:cNvSpPr/>
          <p:nvPr/>
        </p:nvSpPr>
        <p:spPr>
          <a:xfrm>
            <a:off x="1168400" y="2447925"/>
            <a:ext cx="61327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3B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AICORE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029321" y="2447925"/>
            <a:ext cx="51435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6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AICPU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791321" y="2447925"/>
            <a:ext cx="74513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6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HOSTCPU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920750" y="2765425"/>
            <a:ext cx="16446501" cy="3365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1130300" y="2851150"/>
            <a:ext cx="228846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FLOPs(cube):</a:t>
            </a:r>
            <a:pPr algn="l" indent="0" marL="0">
              <a:buNone/>
            </a:pPr>
            <a:r>
              <a:rPr lang="en-US" sz="975" dirty="0">
                <a:solidFill>
                  <a:srgbClr val="46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487223156.8291M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477419" y="2851150"/>
            <a:ext cx="26970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FLOPS(cube):</a:t>
            </a:r>
            <a:pPr algn="l" indent="0" marL="0">
              <a:buNone/>
            </a:pPr>
            <a:r>
              <a:rPr lang="en-US" sz="975" dirty="0">
                <a:solidFill>
                  <a:srgbClr val="46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161288.4017G/Seconds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196013" y="2851150"/>
            <a:ext cx="20434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FLOPs(vec):</a:t>
            </a:r>
            <a:pPr algn="l" indent="0" marL="0">
              <a:buNone/>
            </a:pPr>
            <a:r>
              <a:rPr lang="en-US" sz="975" dirty="0">
                <a:solidFill>
                  <a:srgbClr val="46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3105442.7715M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320385" y="2851150"/>
            <a:ext cx="245206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FLOPS(vec):</a:t>
            </a:r>
            <a:pPr algn="l" indent="0" marL="0">
              <a:buNone/>
            </a:pPr>
            <a:r>
              <a:rPr lang="en-US" sz="975" dirty="0">
                <a:solidFill>
                  <a:srgbClr val="46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1502.6633G/Seconds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30300" y="3295650"/>
            <a:ext cx="391356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Time Consumption Ranking (us/time)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6063417" y="3244850"/>
            <a:ext cx="1094284" cy="298450"/>
          </a:xfrm>
          <a:prstGeom prst="roundRect">
            <a:avLst>
              <a:gd name="adj" fmla="val 19149"/>
            </a:avLst>
          </a:prstGeom>
          <a:ln w="6350">
            <a:solidFill>
              <a:srgbClr val="D7DC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69767" y="3251200"/>
            <a:ext cx="533003" cy="285750"/>
          </a:xfrm>
          <a:prstGeom prst="rect">
            <a:avLst/>
          </a:prstGeom>
          <a:solidFill>
            <a:srgbClr val="13B3A6"/>
          </a:solidFill>
          <a:ln/>
        </p:spPr>
      </p:sp>
      <p:sp>
        <p:nvSpPr>
          <p:cNvPr id="20" name="Text 18"/>
          <p:cNvSpPr/>
          <p:nvPr/>
        </p:nvSpPr>
        <p:spPr>
          <a:xfrm>
            <a:off x="16241217" y="3308350"/>
            <a:ext cx="26630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6602770" y="3251200"/>
            <a:ext cx="548580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6774220" y="3308350"/>
            <a:ext cx="2818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76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</a:t>
            </a:r>
            <a:endParaRPr lang="en-US" sz="975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300" y="3600450"/>
            <a:ext cx="5334000" cy="26670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616700" y="4016375"/>
            <a:ext cx="219075" cy="219075"/>
          </a:xfrm>
          <a:prstGeom prst="ellipse">
            <a:avLst/>
          </a:prstGeom>
          <a:solidFill>
            <a:srgbClr val="5B8FF9"/>
          </a:solidFill>
          <a:ln/>
        </p:spPr>
      </p:sp>
      <p:sp>
        <p:nvSpPr>
          <p:cNvPr id="25" name="Text 22"/>
          <p:cNvSpPr/>
          <p:nvPr/>
        </p:nvSpPr>
        <p:spPr>
          <a:xfrm>
            <a:off x="6578600" y="401637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6921500" y="4016375"/>
            <a:ext cx="11931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FusionOp_MatMu…</a:t>
            </a:r>
            <a:endParaRPr lang="en-US" sz="938" dirty="0"/>
          </a:p>
        </p:txBody>
      </p:sp>
      <p:sp>
        <p:nvSpPr>
          <p:cNvPr id="27" name="Text 24"/>
          <p:cNvSpPr/>
          <p:nvPr/>
        </p:nvSpPr>
        <p:spPr>
          <a:xfrm>
            <a:off x="8657531" y="4016375"/>
            <a:ext cx="55632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2643.21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921500" y="417512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28.76%</a:t>
            </a:r>
            <a:endParaRPr lang="en-US" sz="825" dirty="0"/>
          </a:p>
        </p:txBody>
      </p:sp>
      <p:sp>
        <p:nvSpPr>
          <p:cNvPr id="29" name="Shape 26"/>
          <p:cNvSpPr/>
          <p:nvPr/>
        </p:nvSpPr>
        <p:spPr>
          <a:xfrm>
            <a:off x="9290050" y="4016375"/>
            <a:ext cx="219075" cy="219075"/>
          </a:xfrm>
          <a:prstGeom prst="ellipse">
            <a:avLst/>
          </a:prstGeom>
          <a:solidFill>
            <a:srgbClr val="5AD8A6"/>
          </a:solidFill>
          <a:ln/>
        </p:spPr>
      </p:sp>
      <p:sp>
        <p:nvSpPr>
          <p:cNvPr id="30" name="Text 27"/>
          <p:cNvSpPr/>
          <p:nvPr/>
        </p:nvSpPr>
        <p:spPr>
          <a:xfrm>
            <a:off x="9251950" y="401637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9594850" y="4016375"/>
            <a:ext cx="10279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FlashAttention…</a:t>
            </a:r>
            <a:endParaRPr lang="en-US" sz="938" dirty="0"/>
          </a:p>
        </p:txBody>
      </p:sp>
      <p:sp>
        <p:nvSpPr>
          <p:cNvPr id="32" name="Text 29"/>
          <p:cNvSpPr/>
          <p:nvPr/>
        </p:nvSpPr>
        <p:spPr>
          <a:xfrm>
            <a:off x="11330880" y="4016375"/>
            <a:ext cx="55632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1785.34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594850" y="417512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19.43%</a:t>
            </a:r>
            <a:endParaRPr lang="en-US" sz="825" dirty="0"/>
          </a:p>
        </p:txBody>
      </p:sp>
      <p:sp>
        <p:nvSpPr>
          <p:cNvPr id="34" name="Shape 31"/>
          <p:cNvSpPr/>
          <p:nvPr/>
        </p:nvSpPr>
        <p:spPr>
          <a:xfrm>
            <a:off x="11963400" y="4016375"/>
            <a:ext cx="219075" cy="219075"/>
          </a:xfrm>
          <a:prstGeom prst="ellipse">
            <a:avLst/>
          </a:prstGeom>
          <a:solidFill>
            <a:srgbClr val="5D7092"/>
          </a:solidFill>
          <a:ln/>
        </p:spPr>
      </p:sp>
      <p:sp>
        <p:nvSpPr>
          <p:cNvPr id="35" name="Text 32"/>
          <p:cNvSpPr/>
          <p:nvPr/>
        </p:nvSpPr>
        <p:spPr>
          <a:xfrm>
            <a:off x="11925300" y="401637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12268200" y="4016375"/>
            <a:ext cx="10279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FlashAttention…</a:t>
            </a:r>
            <a:endParaRPr lang="en-US" sz="938" dirty="0"/>
          </a:p>
        </p:txBody>
      </p:sp>
      <p:sp>
        <p:nvSpPr>
          <p:cNvPr id="37" name="Text 34"/>
          <p:cNvSpPr/>
          <p:nvPr/>
        </p:nvSpPr>
        <p:spPr>
          <a:xfrm>
            <a:off x="14004231" y="4016375"/>
            <a:ext cx="55632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1643.97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68200" y="417512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17.89%</a:t>
            </a:r>
            <a:endParaRPr lang="en-US" sz="825" dirty="0"/>
          </a:p>
        </p:txBody>
      </p:sp>
      <p:sp>
        <p:nvSpPr>
          <p:cNvPr id="39" name="Shape 36"/>
          <p:cNvSpPr/>
          <p:nvPr/>
        </p:nvSpPr>
        <p:spPr>
          <a:xfrm>
            <a:off x="14636751" y="4016375"/>
            <a:ext cx="219075" cy="219075"/>
          </a:xfrm>
          <a:prstGeom prst="ellipse">
            <a:avLst/>
          </a:prstGeom>
          <a:solidFill>
            <a:srgbClr val="F6BD16"/>
          </a:solidFill>
          <a:ln/>
        </p:spPr>
      </p:sp>
      <p:sp>
        <p:nvSpPr>
          <p:cNvPr id="40" name="Text 37"/>
          <p:cNvSpPr/>
          <p:nvPr/>
        </p:nvSpPr>
        <p:spPr>
          <a:xfrm>
            <a:off x="14598651" y="401637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14941551" y="4016375"/>
            <a:ext cx="102443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GroupedMatmul</a:t>
            </a:r>
            <a:endParaRPr lang="en-US" sz="938" dirty="0"/>
          </a:p>
        </p:txBody>
      </p:sp>
      <p:sp>
        <p:nvSpPr>
          <p:cNvPr id="42" name="Text 39"/>
          <p:cNvSpPr/>
          <p:nvPr/>
        </p:nvSpPr>
        <p:spPr>
          <a:xfrm>
            <a:off x="16746141" y="4016375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355.41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4941551" y="417512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3.87%</a:t>
            </a:r>
            <a:endParaRPr lang="en-US" sz="825" dirty="0"/>
          </a:p>
        </p:txBody>
      </p:sp>
      <p:sp>
        <p:nvSpPr>
          <p:cNvPr id="44" name="Shape 41"/>
          <p:cNvSpPr/>
          <p:nvPr/>
        </p:nvSpPr>
        <p:spPr>
          <a:xfrm>
            <a:off x="6616700" y="4400550"/>
            <a:ext cx="219075" cy="219075"/>
          </a:xfrm>
          <a:prstGeom prst="ellipse">
            <a:avLst/>
          </a:prstGeom>
          <a:solidFill>
            <a:srgbClr val="E8684A"/>
          </a:solidFill>
          <a:ln/>
        </p:spPr>
      </p:sp>
      <p:sp>
        <p:nvSpPr>
          <p:cNvPr id="45" name="Text 42"/>
          <p:cNvSpPr/>
          <p:nvPr/>
        </p:nvSpPr>
        <p:spPr>
          <a:xfrm>
            <a:off x="6578600" y="4400550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6921500" y="4400550"/>
            <a:ext cx="68659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SoftmaxV2</a:t>
            </a:r>
            <a:endParaRPr lang="en-US" sz="938" dirty="0"/>
          </a:p>
        </p:txBody>
      </p:sp>
      <p:sp>
        <p:nvSpPr>
          <p:cNvPr id="47" name="Text 44"/>
          <p:cNvSpPr/>
          <p:nvPr/>
        </p:nvSpPr>
        <p:spPr>
          <a:xfrm>
            <a:off x="8726091" y="4400550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352.18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921500" y="4559300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3.83%</a:t>
            </a:r>
            <a:endParaRPr lang="en-US" sz="825" dirty="0"/>
          </a:p>
        </p:txBody>
      </p:sp>
      <p:sp>
        <p:nvSpPr>
          <p:cNvPr id="49" name="Shape 46"/>
          <p:cNvSpPr/>
          <p:nvPr/>
        </p:nvSpPr>
        <p:spPr>
          <a:xfrm>
            <a:off x="9290050" y="4400550"/>
            <a:ext cx="219075" cy="219075"/>
          </a:xfrm>
          <a:prstGeom prst="ellipse">
            <a:avLst/>
          </a:prstGeom>
          <a:solidFill>
            <a:srgbClr val="6DC8EC"/>
          </a:solidFill>
          <a:ln/>
        </p:spPr>
      </p:sp>
      <p:sp>
        <p:nvSpPr>
          <p:cNvPr id="50" name="Text 47"/>
          <p:cNvSpPr/>
          <p:nvPr/>
        </p:nvSpPr>
        <p:spPr>
          <a:xfrm>
            <a:off x="9251950" y="4400550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9594850" y="4400550"/>
            <a:ext cx="94218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RmsNormGrad</a:t>
            </a:r>
            <a:endParaRPr lang="en-US" sz="938" dirty="0"/>
          </a:p>
        </p:txBody>
      </p:sp>
      <p:sp>
        <p:nvSpPr>
          <p:cNvPr id="52" name="Text 49"/>
          <p:cNvSpPr/>
          <p:nvPr/>
        </p:nvSpPr>
        <p:spPr>
          <a:xfrm>
            <a:off x="11399441" y="4400550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338.21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9594850" y="4559300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3.68%</a:t>
            </a:r>
            <a:endParaRPr lang="en-US" sz="825" dirty="0"/>
          </a:p>
        </p:txBody>
      </p:sp>
      <p:sp>
        <p:nvSpPr>
          <p:cNvPr id="54" name="Shape 51"/>
          <p:cNvSpPr/>
          <p:nvPr/>
        </p:nvSpPr>
        <p:spPr>
          <a:xfrm>
            <a:off x="11963400" y="4400550"/>
            <a:ext cx="219075" cy="219075"/>
          </a:xfrm>
          <a:prstGeom prst="ellipse">
            <a:avLst/>
          </a:prstGeom>
          <a:solidFill>
            <a:srgbClr val="9270CA"/>
          </a:solidFill>
          <a:ln/>
        </p:spPr>
      </p:sp>
      <p:sp>
        <p:nvSpPr>
          <p:cNvPr id="55" name="Text 52"/>
          <p:cNvSpPr/>
          <p:nvPr/>
        </p:nvSpPr>
        <p:spPr>
          <a:xfrm>
            <a:off x="11925300" y="4400550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25" dirty="0"/>
          </a:p>
        </p:txBody>
      </p:sp>
      <p:sp>
        <p:nvSpPr>
          <p:cNvPr id="56" name="Text 53"/>
          <p:cNvSpPr/>
          <p:nvPr/>
        </p:nvSpPr>
        <p:spPr>
          <a:xfrm>
            <a:off x="12268200" y="4400550"/>
            <a:ext cx="116115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MoeGatingTopKS…</a:t>
            </a:r>
            <a:endParaRPr lang="en-US" sz="938" dirty="0"/>
          </a:p>
        </p:txBody>
      </p:sp>
      <p:sp>
        <p:nvSpPr>
          <p:cNvPr id="57" name="Text 54"/>
          <p:cNvSpPr/>
          <p:nvPr/>
        </p:nvSpPr>
        <p:spPr>
          <a:xfrm>
            <a:off x="14072791" y="4400550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300.41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2268200" y="4559300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3.27%</a:t>
            </a:r>
            <a:endParaRPr lang="en-US" sz="825" dirty="0"/>
          </a:p>
        </p:txBody>
      </p:sp>
      <p:sp>
        <p:nvSpPr>
          <p:cNvPr id="59" name="Shape 56"/>
          <p:cNvSpPr/>
          <p:nvPr/>
        </p:nvSpPr>
        <p:spPr>
          <a:xfrm>
            <a:off x="14636751" y="4400550"/>
            <a:ext cx="219075" cy="219075"/>
          </a:xfrm>
          <a:prstGeom prst="ellipse">
            <a:avLst/>
          </a:prstGeom>
          <a:solidFill>
            <a:srgbClr val="FF9D4D"/>
          </a:solidFill>
          <a:ln/>
        </p:spPr>
      </p:sp>
      <p:sp>
        <p:nvSpPr>
          <p:cNvPr id="60" name="Text 57"/>
          <p:cNvSpPr/>
          <p:nvPr/>
        </p:nvSpPr>
        <p:spPr>
          <a:xfrm>
            <a:off x="14598651" y="4400550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25" dirty="0"/>
          </a:p>
        </p:txBody>
      </p:sp>
      <p:sp>
        <p:nvSpPr>
          <p:cNvPr id="61" name="Text 58"/>
          <p:cNvSpPr/>
          <p:nvPr/>
        </p:nvSpPr>
        <p:spPr>
          <a:xfrm>
            <a:off x="14941551" y="4400550"/>
            <a:ext cx="11931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FusionOp_MatMu…</a:t>
            </a:r>
            <a:endParaRPr lang="en-US" sz="938" dirty="0"/>
          </a:p>
        </p:txBody>
      </p:sp>
      <p:sp>
        <p:nvSpPr>
          <p:cNvPr id="62" name="Text 59"/>
          <p:cNvSpPr/>
          <p:nvPr/>
        </p:nvSpPr>
        <p:spPr>
          <a:xfrm>
            <a:off x="16746141" y="4400550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298.77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4941551" y="4559300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3.25%</a:t>
            </a:r>
            <a:endParaRPr lang="en-US" sz="825" dirty="0"/>
          </a:p>
        </p:txBody>
      </p:sp>
      <p:sp>
        <p:nvSpPr>
          <p:cNvPr id="64" name="Shape 61"/>
          <p:cNvSpPr/>
          <p:nvPr/>
        </p:nvSpPr>
        <p:spPr>
          <a:xfrm>
            <a:off x="6616700" y="4784725"/>
            <a:ext cx="219075" cy="219075"/>
          </a:xfrm>
          <a:prstGeom prst="ellipse">
            <a:avLst/>
          </a:prstGeom>
          <a:solidFill>
            <a:srgbClr val="269A99"/>
          </a:solidFill>
          <a:ln/>
        </p:spPr>
      </p:sp>
      <p:sp>
        <p:nvSpPr>
          <p:cNvPr id="65" name="Text 62"/>
          <p:cNvSpPr/>
          <p:nvPr/>
        </p:nvSpPr>
        <p:spPr>
          <a:xfrm>
            <a:off x="6578600" y="478472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25" dirty="0"/>
          </a:p>
        </p:txBody>
      </p:sp>
      <p:sp>
        <p:nvSpPr>
          <p:cNvPr id="66" name="Text 63"/>
          <p:cNvSpPr/>
          <p:nvPr/>
        </p:nvSpPr>
        <p:spPr>
          <a:xfrm>
            <a:off x="6921500" y="4784725"/>
            <a:ext cx="66119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RmsNorm</a:t>
            </a:r>
            <a:endParaRPr lang="en-US" sz="938" dirty="0"/>
          </a:p>
        </p:txBody>
      </p:sp>
      <p:sp>
        <p:nvSpPr>
          <p:cNvPr id="67" name="Text 64"/>
          <p:cNvSpPr/>
          <p:nvPr/>
        </p:nvSpPr>
        <p:spPr>
          <a:xfrm>
            <a:off x="8726091" y="4784725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263.29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6921500" y="494347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2.86%</a:t>
            </a:r>
            <a:endParaRPr lang="en-US" sz="825" dirty="0"/>
          </a:p>
        </p:txBody>
      </p:sp>
      <p:sp>
        <p:nvSpPr>
          <p:cNvPr id="69" name="Shape 66"/>
          <p:cNvSpPr/>
          <p:nvPr/>
        </p:nvSpPr>
        <p:spPr>
          <a:xfrm>
            <a:off x="9290050" y="4784725"/>
            <a:ext cx="219075" cy="219075"/>
          </a:xfrm>
          <a:prstGeom prst="ellipse">
            <a:avLst/>
          </a:prstGeom>
          <a:solidFill>
            <a:srgbClr val="FF99C3"/>
          </a:solidFill>
          <a:ln/>
        </p:spPr>
      </p:sp>
      <p:sp>
        <p:nvSpPr>
          <p:cNvPr id="70" name="Text 67"/>
          <p:cNvSpPr/>
          <p:nvPr/>
        </p:nvSpPr>
        <p:spPr>
          <a:xfrm>
            <a:off x="9251950" y="478472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25" dirty="0"/>
          </a:p>
        </p:txBody>
      </p:sp>
      <p:sp>
        <p:nvSpPr>
          <p:cNvPr id="71" name="Text 68"/>
          <p:cNvSpPr/>
          <p:nvPr/>
        </p:nvSpPr>
        <p:spPr>
          <a:xfrm>
            <a:off x="9594850" y="4784725"/>
            <a:ext cx="110311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MoeFinalizeRou…</a:t>
            </a:r>
            <a:endParaRPr lang="en-US" sz="938" dirty="0"/>
          </a:p>
        </p:txBody>
      </p:sp>
      <p:sp>
        <p:nvSpPr>
          <p:cNvPr id="72" name="Text 69"/>
          <p:cNvSpPr/>
          <p:nvPr/>
        </p:nvSpPr>
        <p:spPr>
          <a:xfrm>
            <a:off x="11399441" y="4784725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209.94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9594850" y="494347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2.28%</a:t>
            </a:r>
            <a:endParaRPr lang="en-US" sz="825" dirty="0"/>
          </a:p>
        </p:txBody>
      </p:sp>
      <p:sp>
        <p:nvSpPr>
          <p:cNvPr id="74" name="Shape 71"/>
          <p:cNvSpPr/>
          <p:nvPr/>
        </p:nvSpPr>
        <p:spPr>
          <a:xfrm>
            <a:off x="11963400" y="4784725"/>
            <a:ext cx="219075" cy="219075"/>
          </a:xfrm>
          <a:prstGeom prst="ellipse">
            <a:avLst/>
          </a:prstGeom>
          <a:solidFill>
            <a:srgbClr val="5B8FF9"/>
          </a:solidFill>
          <a:ln/>
        </p:spPr>
      </p:sp>
      <p:sp>
        <p:nvSpPr>
          <p:cNvPr id="75" name="Text 72"/>
          <p:cNvSpPr/>
          <p:nvPr/>
        </p:nvSpPr>
        <p:spPr>
          <a:xfrm>
            <a:off x="11925300" y="478472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25" dirty="0"/>
          </a:p>
        </p:txBody>
      </p:sp>
      <p:sp>
        <p:nvSpPr>
          <p:cNvPr id="76" name="Text 73"/>
          <p:cNvSpPr/>
          <p:nvPr/>
        </p:nvSpPr>
        <p:spPr>
          <a:xfrm>
            <a:off x="12268200" y="4784725"/>
            <a:ext cx="84742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BatchMatMul</a:t>
            </a:r>
            <a:endParaRPr lang="en-US" sz="938" dirty="0"/>
          </a:p>
        </p:txBody>
      </p:sp>
      <p:sp>
        <p:nvSpPr>
          <p:cNvPr id="77" name="Text 74"/>
          <p:cNvSpPr/>
          <p:nvPr/>
        </p:nvSpPr>
        <p:spPr>
          <a:xfrm>
            <a:off x="14072791" y="4784725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201.65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12268200" y="494347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2.19%</a:t>
            </a:r>
            <a:endParaRPr lang="en-US" sz="825" dirty="0"/>
          </a:p>
        </p:txBody>
      </p:sp>
      <p:sp>
        <p:nvSpPr>
          <p:cNvPr id="79" name="Shape 76"/>
          <p:cNvSpPr/>
          <p:nvPr/>
        </p:nvSpPr>
        <p:spPr>
          <a:xfrm>
            <a:off x="14636751" y="4784725"/>
            <a:ext cx="219075" cy="219075"/>
          </a:xfrm>
          <a:prstGeom prst="ellipse">
            <a:avLst/>
          </a:prstGeom>
          <a:solidFill>
            <a:srgbClr val="73C0DE"/>
          </a:solidFill>
          <a:ln/>
        </p:spPr>
      </p:sp>
      <p:sp>
        <p:nvSpPr>
          <p:cNvPr id="80" name="Text 77"/>
          <p:cNvSpPr/>
          <p:nvPr/>
        </p:nvSpPr>
        <p:spPr>
          <a:xfrm>
            <a:off x="14598651" y="478472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25" dirty="0"/>
          </a:p>
        </p:txBody>
      </p:sp>
      <p:sp>
        <p:nvSpPr>
          <p:cNvPr id="81" name="Text 78"/>
          <p:cNvSpPr/>
          <p:nvPr/>
        </p:nvSpPr>
        <p:spPr>
          <a:xfrm>
            <a:off x="14941551" y="4784725"/>
            <a:ext cx="52109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MatMul</a:t>
            </a:r>
            <a:endParaRPr lang="en-US" sz="938" dirty="0"/>
          </a:p>
        </p:txBody>
      </p:sp>
      <p:sp>
        <p:nvSpPr>
          <p:cNvPr id="82" name="Text 79"/>
          <p:cNvSpPr/>
          <p:nvPr/>
        </p:nvSpPr>
        <p:spPr>
          <a:xfrm>
            <a:off x="16746141" y="4784725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190.12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14941551" y="494347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2.07%</a:t>
            </a:r>
            <a:endParaRPr lang="en-US" sz="825" dirty="0"/>
          </a:p>
        </p:txBody>
      </p:sp>
      <p:sp>
        <p:nvSpPr>
          <p:cNvPr id="84" name="Shape 81"/>
          <p:cNvSpPr/>
          <p:nvPr/>
        </p:nvSpPr>
        <p:spPr>
          <a:xfrm>
            <a:off x="6616700" y="5168900"/>
            <a:ext cx="219075" cy="219075"/>
          </a:xfrm>
          <a:prstGeom prst="ellipse">
            <a:avLst/>
          </a:prstGeom>
          <a:solidFill>
            <a:srgbClr val="3BA272"/>
          </a:solidFill>
          <a:ln/>
        </p:spPr>
      </p:sp>
      <p:sp>
        <p:nvSpPr>
          <p:cNvPr id="85" name="Text 82"/>
          <p:cNvSpPr/>
          <p:nvPr/>
        </p:nvSpPr>
        <p:spPr>
          <a:xfrm>
            <a:off x="6578600" y="5168900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25" dirty="0"/>
          </a:p>
        </p:txBody>
      </p:sp>
      <p:sp>
        <p:nvSpPr>
          <p:cNvPr id="86" name="Text 83"/>
          <p:cNvSpPr/>
          <p:nvPr/>
        </p:nvSpPr>
        <p:spPr>
          <a:xfrm>
            <a:off x="6921500" y="5168900"/>
            <a:ext cx="98167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MoeInitRouting</a:t>
            </a:r>
            <a:endParaRPr lang="en-US" sz="938" dirty="0"/>
          </a:p>
        </p:txBody>
      </p:sp>
      <p:sp>
        <p:nvSpPr>
          <p:cNvPr id="87" name="Text 84"/>
          <p:cNvSpPr/>
          <p:nvPr/>
        </p:nvSpPr>
        <p:spPr>
          <a:xfrm>
            <a:off x="8726091" y="5168900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188.31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6921500" y="5327650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2.05%</a:t>
            </a:r>
            <a:endParaRPr lang="en-US" sz="825" dirty="0"/>
          </a:p>
        </p:txBody>
      </p:sp>
      <p:sp>
        <p:nvSpPr>
          <p:cNvPr id="89" name="Shape 86"/>
          <p:cNvSpPr/>
          <p:nvPr/>
        </p:nvSpPr>
        <p:spPr>
          <a:xfrm>
            <a:off x="9290050" y="5168900"/>
            <a:ext cx="219075" cy="219075"/>
          </a:xfrm>
          <a:prstGeom prst="ellipse">
            <a:avLst/>
          </a:prstGeom>
          <a:solidFill>
            <a:srgbClr val="FC8452"/>
          </a:solidFill>
          <a:ln/>
        </p:spPr>
      </p:sp>
      <p:sp>
        <p:nvSpPr>
          <p:cNvPr id="90" name="Text 87"/>
          <p:cNvSpPr/>
          <p:nvPr/>
        </p:nvSpPr>
        <p:spPr>
          <a:xfrm>
            <a:off x="9251950" y="5168900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25" dirty="0"/>
          </a:p>
        </p:txBody>
      </p:sp>
      <p:sp>
        <p:nvSpPr>
          <p:cNvPr id="91" name="Text 88"/>
          <p:cNvSpPr/>
          <p:nvPr/>
        </p:nvSpPr>
        <p:spPr>
          <a:xfrm>
            <a:off x="9594850" y="5168900"/>
            <a:ext cx="11931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FusionOp_MatMu…</a:t>
            </a:r>
            <a:endParaRPr lang="en-US" sz="938" dirty="0"/>
          </a:p>
        </p:txBody>
      </p:sp>
      <p:sp>
        <p:nvSpPr>
          <p:cNvPr id="92" name="Text 89"/>
          <p:cNvSpPr/>
          <p:nvPr/>
        </p:nvSpPr>
        <p:spPr>
          <a:xfrm>
            <a:off x="11399441" y="5168900"/>
            <a:ext cx="4877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147.63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9594850" y="5327650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1.61%</a:t>
            </a:r>
            <a:endParaRPr lang="en-US" sz="825" dirty="0"/>
          </a:p>
        </p:txBody>
      </p:sp>
      <p:sp>
        <p:nvSpPr>
          <p:cNvPr id="94" name="Shape 91"/>
          <p:cNvSpPr/>
          <p:nvPr/>
        </p:nvSpPr>
        <p:spPr>
          <a:xfrm>
            <a:off x="11963400" y="5168900"/>
            <a:ext cx="219075" cy="219075"/>
          </a:xfrm>
          <a:prstGeom prst="ellipse">
            <a:avLst/>
          </a:prstGeom>
          <a:solidFill>
            <a:srgbClr val="9A60B4"/>
          </a:solidFill>
          <a:ln/>
        </p:spPr>
      </p:sp>
      <p:sp>
        <p:nvSpPr>
          <p:cNvPr id="95" name="Text 92"/>
          <p:cNvSpPr/>
          <p:nvPr/>
        </p:nvSpPr>
        <p:spPr>
          <a:xfrm>
            <a:off x="11925300" y="5168900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25" dirty="0"/>
          </a:p>
        </p:txBody>
      </p:sp>
      <p:sp>
        <p:nvSpPr>
          <p:cNvPr id="96" name="Text 93"/>
          <p:cNvSpPr/>
          <p:nvPr/>
        </p:nvSpPr>
        <p:spPr>
          <a:xfrm>
            <a:off x="12268200" y="5168900"/>
            <a:ext cx="103177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DropOutDoMask</a:t>
            </a:r>
            <a:endParaRPr lang="en-US" sz="938" dirty="0"/>
          </a:p>
        </p:txBody>
      </p:sp>
      <p:sp>
        <p:nvSpPr>
          <p:cNvPr id="97" name="Text 94"/>
          <p:cNvSpPr/>
          <p:nvPr/>
        </p:nvSpPr>
        <p:spPr>
          <a:xfrm>
            <a:off x="14141451" y="5168900"/>
            <a:ext cx="4191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66.07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12268200" y="5327650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0.72%</a:t>
            </a:r>
            <a:endParaRPr lang="en-US" sz="825" dirty="0"/>
          </a:p>
        </p:txBody>
      </p:sp>
      <p:sp>
        <p:nvSpPr>
          <p:cNvPr id="99" name="Shape 96"/>
          <p:cNvSpPr/>
          <p:nvPr/>
        </p:nvSpPr>
        <p:spPr>
          <a:xfrm>
            <a:off x="14636751" y="5168900"/>
            <a:ext cx="219075" cy="219075"/>
          </a:xfrm>
          <a:prstGeom prst="ellipse">
            <a:avLst/>
          </a:prstGeom>
          <a:solidFill>
            <a:srgbClr val="EA7CCC"/>
          </a:solidFill>
          <a:ln/>
        </p:spPr>
      </p:sp>
      <p:sp>
        <p:nvSpPr>
          <p:cNvPr id="100" name="Text 97"/>
          <p:cNvSpPr/>
          <p:nvPr/>
        </p:nvSpPr>
        <p:spPr>
          <a:xfrm>
            <a:off x="14598651" y="5168900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25" dirty="0"/>
          </a:p>
        </p:txBody>
      </p:sp>
      <p:sp>
        <p:nvSpPr>
          <p:cNvPr id="101" name="Text 98"/>
          <p:cNvSpPr/>
          <p:nvPr/>
        </p:nvSpPr>
        <p:spPr>
          <a:xfrm>
            <a:off x="14941551" y="5168900"/>
            <a:ext cx="108327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DropoutGenMask</a:t>
            </a:r>
            <a:endParaRPr lang="en-US" sz="938" dirty="0"/>
          </a:p>
        </p:txBody>
      </p:sp>
      <p:sp>
        <p:nvSpPr>
          <p:cNvPr id="102" name="Text 99"/>
          <p:cNvSpPr/>
          <p:nvPr/>
        </p:nvSpPr>
        <p:spPr>
          <a:xfrm>
            <a:off x="16814800" y="5168900"/>
            <a:ext cx="4191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52.13</a:t>
            </a:r>
            <a:endParaRPr lang="en-US" sz="900" dirty="0"/>
          </a:p>
        </p:txBody>
      </p:sp>
      <p:sp>
        <p:nvSpPr>
          <p:cNvPr id="103" name="Text 100"/>
          <p:cNvSpPr/>
          <p:nvPr/>
        </p:nvSpPr>
        <p:spPr>
          <a:xfrm>
            <a:off x="14941551" y="5327650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0.57%</a:t>
            </a:r>
            <a:endParaRPr lang="en-US" sz="825" dirty="0"/>
          </a:p>
        </p:txBody>
      </p:sp>
      <p:sp>
        <p:nvSpPr>
          <p:cNvPr id="104" name="Shape 101"/>
          <p:cNvSpPr/>
          <p:nvPr/>
        </p:nvSpPr>
        <p:spPr>
          <a:xfrm>
            <a:off x="6616700" y="5553075"/>
            <a:ext cx="219075" cy="219075"/>
          </a:xfrm>
          <a:prstGeom prst="ellipse">
            <a:avLst/>
          </a:prstGeom>
          <a:solidFill>
            <a:srgbClr val="C4CCD3"/>
          </a:solidFill>
          <a:ln/>
        </p:spPr>
      </p:sp>
      <p:sp>
        <p:nvSpPr>
          <p:cNvPr id="105" name="Text 102"/>
          <p:cNvSpPr/>
          <p:nvPr/>
        </p:nvSpPr>
        <p:spPr>
          <a:xfrm>
            <a:off x="6578600" y="555307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25" dirty="0"/>
          </a:p>
        </p:txBody>
      </p:sp>
      <p:sp>
        <p:nvSpPr>
          <p:cNvPr id="106" name="Text 103"/>
          <p:cNvSpPr/>
          <p:nvPr/>
        </p:nvSpPr>
        <p:spPr>
          <a:xfrm>
            <a:off x="6921500" y="5553075"/>
            <a:ext cx="120124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LambApplyOptim…</a:t>
            </a:r>
            <a:endParaRPr lang="en-US" sz="938" dirty="0"/>
          </a:p>
        </p:txBody>
      </p:sp>
      <p:sp>
        <p:nvSpPr>
          <p:cNvPr id="107" name="Text 104"/>
          <p:cNvSpPr/>
          <p:nvPr/>
        </p:nvSpPr>
        <p:spPr>
          <a:xfrm>
            <a:off x="8794750" y="5553075"/>
            <a:ext cx="4191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29.82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6921500" y="571182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0.32%</a:t>
            </a:r>
            <a:endParaRPr lang="en-US" sz="825" dirty="0"/>
          </a:p>
        </p:txBody>
      </p:sp>
      <p:sp>
        <p:nvSpPr>
          <p:cNvPr id="109" name="Shape 106"/>
          <p:cNvSpPr/>
          <p:nvPr/>
        </p:nvSpPr>
        <p:spPr>
          <a:xfrm>
            <a:off x="9290050" y="5553075"/>
            <a:ext cx="219075" cy="219075"/>
          </a:xfrm>
          <a:prstGeom prst="ellipse">
            <a:avLst/>
          </a:prstGeom>
          <a:solidFill>
            <a:srgbClr val="7585A2"/>
          </a:solidFill>
          <a:ln/>
        </p:spPr>
      </p:sp>
      <p:sp>
        <p:nvSpPr>
          <p:cNvPr id="110" name="Text 107"/>
          <p:cNvSpPr/>
          <p:nvPr/>
        </p:nvSpPr>
        <p:spPr>
          <a:xfrm>
            <a:off x="9251950" y="555307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25" dirty="0"/>
          </a:p>
        </p:txBody>
      </p:sp>
      <p:sp>
        <p:nvSpPr>
          <p:cNvPr id="111" name="Text 108"/>
          <p:cNvSpPr/>
          <p:nvPr/>
        </p:nvSpPr>
        <p:spPr>
          <a:xfrm>
            <a:off x="9594850" y="5553075"/>
            <a:ext cx="82946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BiasAddGrad</a:t>
            </a:r>
            <a:endParaRPr lang="en-US" sz="938" dirty="0"/>
          </a:p>
        </p:txBody>
      </p:sp>
      <p:sp>
        <p:nvSpPr>
          <p:cNvPr id="112" name="Text 109"/>
          <p:cNvSpPr/>
          <p:nvPr/>
        </p:nvSpPr>
        <p:spPr>
          <a:xfrm>
            <a:off x="11468100" y="5553075"/>
            <a:ext cx="4191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28.55</a:t>
            </a:r>
            <a:endParaRPr lang="en-US" sz="900" dirty="0"/>
          </a:p>
        </p:txBody>
      </p:sp>
      <p:sp>
        <p:nvSpPr>
          <p:cNvPr id="113" name="Text 110"/>
          <p:cNvSpPr/>
          <p:nvPr/>
        </p:nvSpPr>
        <p:spPr>
          <a:xfrm>
            <a:off x="9594850" y="571182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0.31%</a:t>
            </a:r>
            <a:endParaRPr lang="en-US" sz="825" dirty="0"/>
          </a:p>
        </p:txBody>
      </p:sp>
      <p:sp>
        <p:nvSpPr>
          <p:cNvPr id="114" name="Shape 111"/>
          <p:cNvSpPr/>
          <p:nvPr/>
        </p:nvSpPr>
        <p:spPr>
          <a:xfrm>
            <a:off x="11963400" y="5553075"/>
            <a:ext cx="219075" cy="219075"/>
          </a:xfrm>
          <a:prstGeom prst="ellipse">
            <a:avLst/>
          </a:prstGeom>
          <a:solidFill>
            <a:srgbClr val="A0A7E6"/>
          </a:solidFill>
          <a:ln/>
        </p:spPr>
      </p:sp>
      <p:sp>
        <p:nvSpPr>
          <p:cNvPr id="115" name="Text 112"/>
          <p:cNvSpPr/>
          <p:nvPr/>
        </p:nvSpPr>
        <p:spPr>
          <a:xfrm>
            <a:off x="11925300" y="555307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25" dirty="0"/>
          </a:p>
        </p:txBody>
      </p:sp>
      <p:sp>
        <p:nvSpPr>
          <p:cNvPr id="116" name="Text 113"/>
          <p:cNvSpPr/>
          <p:nvPr/>
        </p:nvSpPr>
        <p:spPr>
          <a:xfrm>
            <a:off x="12268200" y="5553075"/>
            <a:ext cx="108604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ConfusionTrans…</a:t>
            </a:r>
            <a:endParaRPr lang="en-US" sz="938" dirty="0"/>
          </a:p>
        </p:txBody>
      </p:sp>
      <p:sp>
        <p:nvSpPr>
          <p:cNvPr id="117" name="Text 114"/>
          <p:cNvSpPr/>
          <p:nvPr/>
        </p:nvSpPr>
        <p:spPr>
          <a:xfrm>
            <a:off x="14141451" y="5553075"/>
            <a:ext cx="4191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22.61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12268200" y="571182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0.25%</a:t>
            </a:r>
            <a:endParaRPr lang="en-US" sz="825" dirty="0"/>
          </a:p>
        </p:txBody>
      </p:sp>
      <p:sp>
        <p:nvSpPr>
          <p:cNvPr id="119" name="Shape 116"/>
          <p:cNvSpPr/>
          <p:nvPr/>
        </p:nvSpPr>
        <p:spPr>
          <a:xfrm>
            <a:off x="14636751" y="5553075"/>
            <a:ext cx="219075" cy="219075"/>
          </a:xfrm>
          <a:prstGeom prst="ellipse">
            <a:avLst/>
          </a:prstGeom>
          <a:solidFill>
            <a:srgbClr val="9C4F4F"/>
          </a:solidFill>
          <a:ln/>
        </p:spPr>
      </p:sp>
      <p:sp>
        <p:nvSpPr>
          <p:cNvPr id="120" name="Text 117"/>
          <p:cNvSpPr/>
          <p:nvPr/>
        </p:nvSpPr>
        <p:spPr>
          <a:xfrm>
            <a:off x="14598651" y="5553075"/>
            <a:ext cx="2952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25" dirty="0"/>
          </a:p>
        </p:txBody>
      </p:sp>
      <p:sp>
        <p:nvSpPr>
          <p:cNvPr id="121" name="Text 118"/>
          <p:cNvSpPr/>
          <p:nvPr/>
        </p:nvSpPr>
        <p:spPr>
          <a:xfrm>
            <a:off x="14941551" y="5553075"/>
            <a:ext cx="40540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364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</a:t>
            </a:r>
            <a:endParaRPr lang="en-US" sz="938" dirty="0"/>
          </a:p>
        </p:txBody>
      </p:sp>
      <p:sp>
        <p:nvSpPr>
          <p:cNvPr id="122" name="Text 119"/>
          <p:cNvSpPr/>
          <p:nvPr/>
        </p:nvSpPr>
        <p:spPr>
          <a:xfrm>
            <a:off x="16814800" y="5553075"/>
            <a:ext cx="4191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73.05</a:t>
            </a:r>
            <a:endParaRPr lang="en-US" sz="900" dirty="0"/>
          </a:p>
        </p:txBody>
      </p:sp>
      <p:sp>
        <p:nvSpPr>
          <p:cNvPr id="123" name="Text 120"/>
          <p:cNvSpPr/>
          <p:nvPr/>
        </p:nvSpPr>
        <p:spPr>
          <a:xfrm>
            <a:off x="14941551" y="5711825"/>
            <a:ext cx="243776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0.79%</a:t>
            </a:r>
            <a:endParaRPr lang="en-US" sz="825" dirty="0"/>
          </a:p>
        </p:txBody>
      </p:sp>
      <p:sp>
        <p:nvSpPr>
          <p:cNvPr id="124" name="Shape 121"/>
          <p:cNvSpPr/>
          <p:nvPr/>
        </p:nvSpPr>
        <p:spPr>
          <a:xfrm>
            <a:off x="1130300" y="6448425"/>
            <a:ext cx="1247577" cy="298450"/>
          </a:xfrm>
          <a:prstGeom prst="roundRect">
            <a:avLst>
              <a:gd name="adj" fmla="val 19149"/>
            </a:avLst>
          </a:prstGeom>
          <a:ln w="6350">
            <a:solidFill>
              <a:srgbClr val="D7DCE2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1136650" y="6454775"/>
            <a:ext cx="552946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23"/>
          <p:cNvSpPr/>
          <p:nvPr/>
        </p:nvSpPr>
        <p:spPr>
          <a:xfrm>
            <a:off x="1327150" y="6511925"/>
            <a:ext cx="2481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76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</a:t>
            </a:r>
            <a:endParaRPr lang="en-US" sz="975" dirty="0"/>
          </a:p>
        </p:txBody>
      </p:sp>
      <p:sp>
        <p:nvSpPr>
          <p:cNvPr id="127" name="Shape 124"/>
          <p:cNvSpPr/>
          <p:nvPr/>
        </p:nvSpPr>
        <p:spPr>
          <a:xfrm>
            <a:off x="1689596" y="6454775"/>
            <a:ext cx="681930" cy="285750"/>
          </a:xfrm>
          <a:prstGeom prst="rect">
            <a:avLst/>
          </a:prstGeom>
          <a:solidFill>
            <a:srgbClr val="13B3A6"/>
          </a:solidFill>
          <a:ln/>
        </p:spPr>
      </p:sp>
      <p:sp>
        <p:nvSpPr>
          <p:cNvPr id="128" name="Text 125"/>
          <p:cNvSpPr/>
          <p:nvPr/>
        </p:nvSpPr>
        <p:spPr>
          <a:xfrm>
            <a:off x="1880096" y="6511925"/>
            <a:ext cx="3771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975" dirty="0"/>
          </a:p>
        </p:txBody>
      </p:sp>
      <p:sp>
        <p:nvSpPr>
          <p:cNvPr id="129" name="Shape 126"/>
          <p:cNvSpPr/>
          <p:nvPr/>
        </p:nvSpPr>
        <p:spPr>
          <a:xfrm>
            <a:off x="14300200" y="6438900"/>
            <a:ext cx="2857500" cy="317500"/>
          </a:xfrm>
          <a:prstGeom prst="roundRect">
            <a:avLst>
              <a:gd name="adj" fmla="val 18000"/>
            </a:avLst>
          </a:prstGeom>
          <a:ln w="6350">
            <a:solidFill>
              <a:srgbClr val="D7DCE2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14439900" y="6511925"/>
            <a:ext cx="2663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AAB2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operator type (Not case sensitive)</a:t>
            </a:r>
            <a:endParaRPr lang="en-US" sz="975" dirty="0"/>
          </a:p>
        </p:txBody>
      </p:sp>
      <p:sp>
        <p:nvSpPr>
          <p:cNvPr id="131" name="Shape 128"/>
          <p:cNvSpPr/>
          <p:nvPr/>
        </p:nvSpPr>
        <p:spPr>
          <a:xfrm>
            <a:off x="1130300" y="6832600"/>
            <a:ext cx="16027401" cy="1758950"/>
          </a:xfrm>
          <a:prstGeom prst="roundRect">
            <a:avLst>
              <a:gd name="adj" fmla="val 3249"/>
            </a:avLst>
          </a:prstGeom>
          <a:ln w="6350">
            <a:solidFill>
              <a:srgbClr val="EEF1F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136650" y="6838950"/>
            <a:ext cx="16014700" cy="34925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33" name="Shape 130"/>
          <p:cNvSpPr/>
          <p:nvPr/>
        </p:nvSpPr>
        <p:spPr>
          <a:xfrm>
            <a:off x="1136650" y="7181850"/>
            <a:ext cx="16014700" cy="9525"/>
          </a:xfrm>
          <a:prstGeom prst="rect">
            <a:avLst/>
          </a:prstGeom>
          <a:solidFill>
            <a:srgbClr val="E6E9ED"/>
          </a:solidFill>
          <a:ln/>
        </p:spPr>
      </p:sp>
      <p:sp>
        <p:nvSpPr>
          <p:cNvPr id="134" name="Text 131"/>
          <p:cNvSpPr/>
          <p:nvPr/>
        </p:nvSpPr>
        <p:spPr>
          <a:xfrm>
            <a:off x="1555750" y="6924675"/>
            <a:ext cx="36222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op_type</a:t>
            </a:r>
            <a:endParaRPr lang="en-US" sz="975" dirty="0"/>
          </a:p>
        </p:txBody>
      </p:sp>
      <p:sp>
        <p:nvSpPr>
          <p:cNvPr id="135" name="Text 132"/>
          <p:cNvSpPr/>
          <p:nvPr/>
        </p:nvSpPr>
        <p:spPr>
          <a:xfrm>
            <a:off x="5294412" y="6924675"/>
            <a:ext cx="27184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total_time (us)</a:t>
            </a:r>
            <a:endParaRPr lang="en-US" sz="975" dirty="0"/>
          </a:p>
        </p:txBody>
      </p:sp>
      <p:sp>
        <p:nvSpPr>
          <p:cNvPr id="136" name="Text 133"/>
          <p:cNvSpPr/>
          <p:nvPr/>
        </p:nvSpPr>
        <p:spPr>
          <a:xfrm>
            <a:off x="8155583" y="6924675"/>
            <a:ext cx="34415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execution_frequency (times)</a:t>
            </a:r>
            <a:endParaRPr lang="en-US" sz="975" dirty="0"/>
          </a:p>
        </p:txBody>
      </p:sp>
      <p:sp>
        <p:nvSpPr>
          <p:cNvPr id="137" name="Text 134"/>
          <p:cNvSpPr/>
          <p:nvPr/>
        </p:nvSpPr>
        <p:spPr>
          <a:xfrm>
            <a:off x="11718827" y="6924675"/>
            <a:ext cx="27184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total_percent (%)</a:t>
            </a:r>
            <a:endParaRPr lang="en-US" sz="975" dirty="0"/>
          </a:p>
        </p:txBody>
      </p:sp>
      <p:sp>
        <p:nvSpPr>
          <p:cNvPr id="138" name="Text 135"/>
          <p:cNvSpPr/>
          <p:nvPr/>
        </p:nvSpPr>
        <p:spPr>
          <a:xfrm>
            <a:off x="14579997" y="6924675"/>
            <a:ext cx="253762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avg_time (us)</a:t>
            </a:r>
            <a:endParaRPr lang="en-US" sz="975" dirty="0"/>
          </a:p>
        </p:txBody>
      </p:sp>
      <p:sp>
        <p:nvSpPr>
          <p:cNvPr id="139" name="Shape 136"/>
          <p:cNvSpPr/>
          <p:nvPr/>
        </p:nvSpPr>
        <p:spPr>
          <a:xfrm>
            <a:off x="1136650" y="7531100"/>
            <a:ext cx="16014700" cy="9525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40" name="Text 137"/>
          <p:cNvSpPr/>
          <p:nvPr/>
        </p:nvSpPr>
        <p:spPr>
          <a:xfrm>
            <a:off x="1098550" y="7267575"/>
            <a:ext cx="3810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2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050" dirty="0"/>
          </a:p>
        </p:txBody>
      </p:sp>
      <p:sp>
        <p:nvSpPr>
          <p:cNvPr id="141" name="Text 138"/>
          <p:cNvSpPr/>
          <p:nvPr/>
        </p:nvSpPr>
        <p:spPr>
          <a:xfrm>
            <a:off x="1555750" y="7273925"/>
            <a:ext cx="36222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B3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GroupedMatmul</a:t>
            </a:r>
            <a:endParaRPr lang="en-US" sz="975" dirty="0"/>
          </a:p>
        </p:txBody>
      </p:sp>
      <p:sp>
        <p:nvSpPr>
          <p:cNvPr id="142" name="Text 139"/>
          <p:cNvSpPr/>
          <p:nvPr/>
        </p:nvSpPr>
        <p:spPr>
          <a:xfrm>
            <a:off x="5294412" y="7280275"/>
            <a:ext cx="27184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1592236.800</a:t>
            </a:r>
            <a:endParaRPr lang="en-US" sz="975" dirty="0"/>
          </a:p>
        </p:txBody>
      </p:sp>
      <p:sp>
        <p:nvSpPr>
          <p:cNvPr id="143" name="Text 140"/>
          <p:cNvSpPr/>
          <p:nvPr/>
        </p:nvSpPr>
        <p:spPr>
          <a:xfrm>
            <a:off x="8155583" y="7280275"/>
            <a:ext cx="344154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4480</a:t>
            </a:r>
            <a:endParaRPr lang="en-US" sz="975" dirty="0"/>
          </a:p>
        </p:txBody>
      </p:sp>
      <p:sp>
        <p:nvSpPr>
          <p:cNvPr id="144" name="Text 141"/>
          <p:cNvSpPr/>
          <p:nvPr/>
        </p:nvSpPr>
        <p:spPr>
          <a:xfrm>
            <a:off x="11718827" y="7280275"/>
            <a:ext cx="27184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24.113</a:t>
            </a:r>
            <a:endParaRPr lang="en-US" sz="975" dirty="0"/>
          </a:p>
        </p:txBody>
      </p:sp>
      <p:sp>
        <p:nvSpPr>
          <p:cNvPr id="145" name="Text 142"/>
          <p:cNvSpPr/>
          <p:nvPr/>
        </p:nvSpPr>
        <p:spPr>
          <a:xfrm>
            <a:off x="14579997" y="7280275"/>
            <a:ext cx="253762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355.410</a:t>
            </a:r>
            <a:endParaRPr lang="en-US" sz="975" dirty="0"/>
          </a:p>
        </p:txBody>
      </p:sp>
      <p:sp>
        <p:nvSpPr>
          <p:cNvPr id="146" name="Shape 143"/>
          <p:cNvSpPr/>
          <p:nvPr/>
        </p:nvSpPr>
        <p:spPr>
          <a:xfrm>
            <a:off x="1136650" y="7880350"/>
            <a:ext cx="16014700" cy="9525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47" name="Text 144"/>
          <p:cNvSpPr/>
          <p:nvPr/>
        </p:nvSpPr>
        <p:spPr>
          <a:xfrm>
            <a:off x="1098550" y="7616825"/>
            <a:ext cx="3810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2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050" dirty="0"/>
          </a:p>
        </p:txBody>
      </p:sp>
      <p:sp>
        <p:nvSpPr>
          <p:cNvPr id="148" name="Text 145"/>
          <p:cNvSpPr/>
          <p:nvPr/>
        </p:nvSpPr>
        <p:spPr>
          <a:xfrm>
            <a:off x="1555750" y="7623175"/>
            <a:ext cx="36222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B3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FusionOp_MatMul_SwiGLU</a:t>
            </a:r>
            <a:endParaRPr lang="en-US" sz="975" dirty="0"/>
          </a:p>
        </p:txBody>
      </p:sp>
      <p:sp>
        <p:nvSpPr>
          <p:cNvPr id="149" name="Text 146"/>
          <p:cNvSpPr/>
          <p:nvPr/>
        </p:nvSpPr>
        <p:spPr>
          <a:xfrm>
            <a:off x="5294412" y="7629525"/>
            <a:ext cx="27184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1014992.640</a:t>
            </a:r>
            <a:endParaRPr lang="en-US" sz="975" dirty="0"/>
          </a:p>
        </p:txBody>
      </p:sp>
      <p:sp>
        <p:nvSpPr>
          <p:cNvPr id="150" name="Text 147"/>
          <p:cNvSpPr/>
          <p:nvPr/>
        </p:nvSpPr>
        <p:spPr>
          <a:xfrm>
            <a:off x="8155583" y="7629525"/>
            <a:ext cx="344154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</a:t>
            </a:r>
            <a:endParaRPr lang="en-US" sz="975" dirty="0"/>
          </a:p>
        </p:txBody>
      </p:sp>
      <p:sp>
        <p:nvSpPr>
          <p:cNvPr id="151" name="Text 148"/>
          <p:cNvSpPr/>
          <p:nvPr/>
        </p:nvSpPr>
        <p:spPr>
          <a:xfrm>
            <a:off x="11718827" y="7629525"/>
            <a:ext cx="27184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15.371</a:t>
            </a:r>
            <a:endParaRPr lang="en-US" sz="975" dirty="0"/>
          </a:p>
        </p:txBody>
      </p:sp>
      <p:sp>
        <p:nvSpPr>
          <p:cNvPr id="152" name="Text 149"/>
          <p:cNvSpPr/>
          <p:nvPr/>
        </p:nvSpPr>
        <p:spPr>
          <a:xfrm>
            <a:off x="14579997" y="7629525"/>
            <a:ext cx="253762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2643.210</a:t>
            </a:r>
            <a:endParaRPr lang="en-US" sz="975" dirty="0"/>
          </a:p>
        </p:txBody>
      </p:sp>
      <p:sp>
        <p:nvSpPr>
          <p:cNvPr id="153" name="Shape 150"/>
          <p:cNvSpPr/>
          <p:nvPr/>
        </p:nvSpPr>
        <p:spPr>
          <a:xfrm>
            <a:off x="1136650" y="8229600"/>
            <a:ext cx="16014700" cy="9525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54" name="Text 151"/>
          <p:cNvSpPr/>
          <p:nvPr/>
        </p:nvSpPr>
        <p:spPr>
          <a:xfrm>
            <a:off x="1098550" y="7966075"/>
            <a:ext cx="3810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2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1555750" y="7972425"/>
            <a:ext cx="36222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B3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FlashAttentionScore</a:t>
            </a:r>
            <a:endParaRPr lang="en-US" sz="975" dirty="0"/>
          </a:p>
        </p:txBody>
      </p:sp>
      <p:sp>
        <p:nvSpPr>
          <p:cNvPr id="156" name="Text 153"/>
          <p:cNvSpPr/>
          <p:nvPr/>
        </p:nvSpPr>
        <p:spPr>
          <a:xfrm>
            <a:off x="5294412" y="7978775"/>
            <a:ext cx="27184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664146.480</a:t>
            </a:r>
            <a:endParaRPr lang="en-US" sz="975" dirty="0"/>
          </a:p>
        </p:txBody>
      </p:sp>
      <p:sp>
        <p:nvSpPr>
          <p:cNvPr id="157" name="Text 154"/>
          <p:cNvSpPr/>
          <p:nvPr/>
        </p:nvSpPr>
        <p:spPr>
          <a:xfrm>
            <a:off x="8155583" y="7978775"/>
            <a:ext cx="344154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372</a:t>
            </a:r>
            <a:endParaRPr lang="en-US" sz="975" dirty="0"/>
          </a:p>
        </p:txBody>
      </p:sp>
      <p:sp>
        <p:nvSpPr>
          <p:cNvPr id="158" name="Text 155"/>
          <p:cNvSpPr/>
          <p:nvPr/>
        </p:nvSpPr>
        <p:spPr>
          <a:xfrm>
            <a:off x="11718827" y="7978775"/>
            <a:ext cx="27184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10.058</a:t>
            </a:r>
            <a:endParaRPr lang="en-US" sz="975" dirty="0"/>
          </a:p>
        </p:txBody>
      </p:sp>
      <p:sp>
        <p:nvSpPr>
          <p:cNvPr id="159" name="Text 156"/>
          <p:cNvSpPr/>
          <p:nvPr/>
        </p:nvSpPr>
        <p:spPr>
          <a:xfrm>
            <a:off x="14579997" y="7978775"/>
            <a:ext cx="253762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1785.340</a:t>
            </a:r>
            <a:endParaRPr lang="en-US" sz="975" dirty="0"/>
          </a:p>
        </p:txBody>
      </p:sp>
      <p:sp>
        <p:nvSpPr>
          <p:cNvPr id="160" name="Shape 157"/>
          <p:cNvSpPr/>
          <p:nvPr/>
        </p:nvSpPr>
        <p:spPr>
          <a:xfrm>
            <a:off x="1136650" y="8578850"/>
            <a:ext cx="16014700" cy="9525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61" name="Text 158"/>
          <p:cNvSpPr/>
          <p:nvPr/>
        </p:nvSpPr>
        <p:spPr>
          <a:xfrm>
            <a:off x="1098550" y="8315325"/>
            <a:ext cx="3810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2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1555750" y="8321675"/>
            <a:ext cx="36222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B3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FlashAttentionScoreGrad</a:t>
            </a:r>
            <a:endParaRPr lang="en-US" sz="975" dirty="0"/>
          </a:p>
        </p:txBody>
      </p:sp>
      <p:sp>
        <p:nvSpPr>
          <p:cNvPr id="163" name="Text 160"/>
          <p:cNvSpPr/>
          <p:nvPr/>
        </p:nvSpPr>
        <p:spPr>
          <a:xfrm>
            <a:off x="5294412" y="8328025"/>
            <a:ext cx="27184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577033.470</a:t>
            </a:r>
            <a:endParaRPr lang="en-US" sz="975" dirty="0"/>
          </a:p>
        </p:txBody>
      </p:sp>
      <p:sp>
        <p:nvSpPr>
          <p:cNvPr id="164" name="Text 161"/>
          <p:cNvSpPr/>
          <p:nvPr/>
        </p:nvSpPr>
        <p:spPr>
          <a:xfrm>
            <a:off x="8155583" y="8328025"/>
            <a:ext cx="344154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351</a:t>
            </a:r>
            <a:endParaRPr lang="en-US" sz="975" dirty="0"/>
          </a:p>
        </p:txBody>
      </p:sp>
      <p:sp>
        <p:nvSpPr>
          <p:cNvPr id="165" name="Text 162"/>
          <p:cNvSpPr/>
          <p:nvPr/>
        </p:nvSpPr>
        <p:spPr>
          <a:xfrm>
            <a:off x="11718827" y="8328025"/>
            <a:ext cx="27184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8.739</a:t>
            </a:r>
            <a:endParaRPr lang="en-US" sz="975" dirty="0"/>
          </a:p>
        </p:txBody>
      </p:sp>
      <p:sp>
        <p:nvSpPr>
          <p:cNvPr id="166" name="Text 163"/>
          <p:cNvSpPr/>
          <p:nvPr/>
        </p:nvSpPr>
        <p:spPr>
          <a:xfrm>
            <a:off x="14579997" y="8328025"/>
            <a:ext cx="253762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36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1643.970</a:t>
            </a:r>
            <a:endParaRPr lang="en-US" sz="975" dirty="0"/>
          </a:p>
        </p:txBody>
      </p:sp>
      <p:sp>
        <p:nvSpPr>
          <p:cNvPr id="167" name="Text 164"/>
          <p:cNvSpPr/>
          <p:nvPr/>
        </p:nvSpPr>
        <p:spPr>
          <a:xfrm>
            <a:off x="914400" y="8902700"/>
            <a:ext cx="16482060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B2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5. </a:t>
            </a:r>
            <a:pPr algn="l" indent="0" marL="0">
              <a:buNone/>
            </a:pPr>
            <a:r>
              <a:rPr lang="en-US" sz="1575" i="1" dirty="0">
                <a:solidFill>
                  <a:srgbClr val="6B6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某个 MiniMax-M3 训练步的 MindStudio Operator Details (AICORE)，算子按平均耗时排名。融合的 MoE grouped-GEMM、SwiGLU FFN 与 FlashAttention（前向 + 反向）位居前列——正是前几页优化过的那些内核。</a:t>
            </a:r>
            <a:endParaRPr lang="en-US" sz="1575" dirty="0"/>
          </a:p>
        </p:txBody>
      </p:sp>
      <p:sp>
        <p:nvSpPr>
          <p:cNvPr id="168" name="Shape 165"/>
          <p:cNvSpPr/>
          <p:nvPr/>
        </p:nvSpPr>
        <p:spPr>
          <a:xfrm>
            <a:off x="914400" y="9639300"/>
            <a:ext cx="16459200" cy="9525"/>
          </a:xfrm>
          <a:prstGeom prst="rect">
            <a:avLst/>
          </a:prstGeom>
          <a:solidFill>
            <a:srgbClr val="DDD8CC"/>
          </a:solidFill>
          <a:ln/>
        </p:spPr>
      </p:sp>
      <p:sp>
        <p:nvSpPr>
          <p:cNvPr id="169" name="Text 166"/>
          <p:cNvSpPr/>
          <p:nvPr/>
        </p:nvSpPr>
        <p:spPr>
          <a:xfrm>
            <a:off x="914400" y="9759951"/>
            <a:ext cx="157162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昇腾算子内核性能剖析</a:t>
            </a:r>
            <a:endParaRPr lang="en-US" sz="1125" dirty="0"/>
          </a:p>
        </p:txBody>
      </p:sp>
      <p:sp>
        <p:nvSpPr>
          <p:cNvPr id="170" name="Text 167"/>
          <p:cNvSpPr/>
          <p:nvPr/>
        </p:nvSpPr>
        <p:spPr>
          <a:xfrm>
            <a:off x="16773525" y="9759951"/>
            <a:ext cx="6762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08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2026-07-01T17:28:18Z</dcterms:created>
  <dcterms:modified xsi:type="dcterms:W3CDTF">2026-07-01T17:28:18Z</dcterms:modified>
</cp:coreProperties>
</file>